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060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las variantes de estructura de la app de tablet exploradas para PCE, antes de pasar a alta fidelidad.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Patrón tipo app móvil clásica: tabs abajo, acciones flotantes. Bueno para uso a una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Patrón más 'desktop tablet': rail persistente, dejando el header libre para acciones.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Prioriza que el estado de la emergencia nunca se pierda de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tabs — todo vive en tarjetas, incluye Pre-PAI/Reportes sin menú aparte.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Extiende el modelo COE/PMM de la Activación a toda la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simple; el rol se resuelve por usuario, no por pantalla.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Alinear con Renzo sobre los siguientes pasos antes de construir a alta fidelidad.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47856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SSEI · LIMA AIRPORT PARTNERS · AIJC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4021485"/>
            <a:ext cx="15716250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97"/>
              </a:lnSpc>
              <a:buNone/>
            </a:pPr>
            <a:r>
              <a:rPr lang="en-US" sz="5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la app de tablet — PCE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333500" y="4981575"/>
            <a:ext cx="1275397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dirty="0">
                <a:solidFill>
                  <a:srgbClr val="4A4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variantes de navegación para COE y PMM, más pantalla de login — wireframes de baja fidelidad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33500" y="6474916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 en Design.md y el PRD v0.8 · 30 de julio, 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1A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09675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 inferiores + acciones flotantes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57425"/>
            <a:ext cx="6477000" cy="4191000"/>
          </a:xfrm>
          <a:prstGeom prst="roundRect">
            <a:avLst>
              <a:gd name="adj" fmla="val 3636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60990" dir="306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4425" y="2724150"/>
            <a:ext cx="6153150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Text 4"/>
          <p:cNvSpPr/>
          <p:nvPr/>
        </p:nvSpPr>
        <p:spPr>
          <a:xfrm>
            <a:off x="1114425" y="2447925"/>
            <a:ext cx="3896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23107" y="2428875"/>
            <a:ext cx="1140768" cy="209550"/>
          </a:xfrm>
          <a:prstGeom prst="roundRect">
            <a:avLst>
              <a:gd name="adj" fmla="val 5000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8357" y="2466975"/>
            <a:ext cx="10264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Jefe de Rescate · PMM/CI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4888557" y="2419350"/>
            <a:ext cx="751731" cy="228600"/>
          </a:xfrm>
          <a:prstGeom prst="roundRect">
            <a:avLst>
              <a:gd name="adj" fmla="val 50000"/>
            </a:avLst>
          </a:prstGeom>
          <a:solidFill>
            <a:srgbClr val="F3A53C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2857" y="2466975"/>
            <a:ext cx="5993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35538" y="2466975"/>
            <a:ext cx="5334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 14:32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6287988" y="2495550"/>
            <a:ext cx="76200" cy="76200"/>
          </a:xfrm>
          <a:prstGeom prst="ellipse">
            <a:avLst/>
          </a:prstGeom>
          <a:solidFill>
            <a:srgbClr val="4C8C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11813" y="2466975"/>
            <a:ext cx="5582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Sincronizado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989118" y="2452688"/>
            <a:ext cx="3546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⋯ Más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525" y="2857500"/>
            <a:ext cx="66846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152525" y="3057525"/>
            <a:ext cx="66846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Convocatoria — COE 2/3 · PMM 3/3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52525" y="3295650"/>
            <a:ext cx="3646140" cy="7620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2525" y="3429000"/>
            <a:ext cx="2734568" cy="7620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3562350"/>
            <a:ext cx="3038475" cy="7620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20" name="Shape 18"/>
          <p:cNvSpPr/>
          <p:nvPr/>
        </p:nvSpPr>
        <p:spPr>
          <a:xfrm>
            <a:off x="6715125" y="4629150"/>
            <a:ext cx="533400" cy="533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6075" y="46482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715125" y="5257800"/>
            <a:ext cx="533400" cy="533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6075" y="52768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Desact.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81075" y="6067425"/>
            <a:ext cx="6419850" cy="352425"/>
          </a:xfrm>
          <a:prstGeom prst="rect">
            <a:avLst/>
          </a:prstGeom>
          <a:solidFill>
            <a:srgbClr val="FFFD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81075" y="6067425"/>
            <a:ext cx="6419850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8225" y="6162675"/>
            <a:ext cx="1261021" cy="28575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0125" y="6229350"/>
            <a:ext cx="133722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2261146" y="6200775"/>
            <a:ext cx="13373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522315" y="6200775"/>
            <a:ext cx="133722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783336" y="6200775"/>
            <a:ext cx="13373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Comunic.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044505" y="6200775"/>
            <a:ext cx="13373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mando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7620000" y="2257425"/>
            <a:ext cx="1428750" cy="2247900"/>
          </a:xfrm>
          <a:prstGeom prst="roundRect">
            <a:avLst>
              <a:gd name="adj" fmla="val 9333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47625" dir="318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63815" y="2362200"/>
            <a:ext cx="13411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 · 14:32</a:t>
            </a:r>
            <a:endParaRPr lang="en-US" sz="675" dirty="0"/>
          </a:p>
        </p:txBody>
      </p:sp>
      <p:sp>
        <p:nvSpPr>
          <p:cNvPr id="34" name="Shape 32"/>
          <p:cNvSpPr/>
          <p:nvPr/>
        </p:nvSpPr>
        <p:spPr>
          <a:xfrm>
            <a:off x="7785795" y="2524125"/>
            <a:ext cx="1097161" cy="5715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35" name="Shape 33"/>
          <p:cNvSpPr/>
          <p:nvPr/>
        </p:nvSpPr>
        <p:spPr>
          <a:xfrm>
            <a:off x="7907685" y="2628900"/>
            <a:ext cx="853380" cy="5715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36" name="Shape 34"/>
          <p:cNvSpPr/>
          <p:nvPr/>
        </p:nvSpPr>
        <p:spPr>
          <a:xfrm>
            <a:off x="8658225" y="390525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48575" y="4295775"/>
            <a:ext cx="1371600" cy="180975"/>
          </a:xfrm>
          <a:prstGeom prst="rect">
            <a:avLst/>
          </a:prstGeom>
          <a:solidFill>
            <a:srgbClr val="FFFDFA"/>
          </a:solidFill>
          <a:ln/>
        </p:spPr>
      </p:sp>
      <p:sp>
        <p:nvSpPr>
          <p:cNvPr id="38" name="Shape 36"/>
          <p:cNvSpPr/>
          <p:nvPr/>
        </p:nvSpPr>
        <p:spPr>
          <a:xfrm>
            <a:off x="7648575" y="4295775"/>
            <a:ext cx="1371600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9" name="Text 37"/>
          <p:cNvSpPr/>
          <p:nvPr/>
        </p:nvSpPr>
        <p:spPr>
          <a:xfrm>
            <a:off x="7629525" y="4352925"/>
            <a:ext cx="409575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Res.</a:t>
            </a:r>
            <a:endParaRPr lang="en-US" sz="525" dirty="0"/>
          </a:p>
        </p:txBody>
      </p:sp>
      <p:sp>
        <p:nvSpPr>
          <p:cNvPr id="40" name="Text 38"/>
          <p:cNvSpPr/>
          <p:nvPr/>
        </p:nvSpPr>
        <p:spPr>
          <a:xfrm>
            <a:off x="7962900" y="4352925"/>
            <a:ext cx="409575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525" dirty="0"/>
          </a:p>
        </p:txBody>
      </p:sp>
      <p:sp>
        <p:nvSpPr>
          <p:cNvPr id="41" name="Text 39"/>
          <p:cNvSpPr/>
          <p:nvPr/>
        </p:nvSpPr>
        <p:spPr>
          <a:xfrm>
            <a:off x="8296275" y="4352925"/>
            <a:ext cx="409575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Unid.</a:t>
            </a:r>
            <a:endParaRPr lang="en-US" sz="525" dirty="0"/>
          </a:p>
        </p:txBody>
      </p:sp>
      <p:sp>
        <p:nvSpPr>
          <p:cNvPr id="42" name="Text 40"/>
          <p:cNvSpPr/>
          <p:nvPr/>
        </p:nvSpPr>
        <p:spPr>
          <a:xfrm>
            <a:off x="8629650" y="4352925"/>
            <a:ext cx="409575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525" dirty="0"/>
          </a:p>
        </p:txBody>
      </p:sp>
      <p:sp>
        <p:nvSpPr>
          <p:cNvPr id="43" name="Text 41"/>
          <p:cNvSpPr/>
          <p:nvPr/>
        </p:nvSpPr>
        <p:spPr>
          <a:xfrm>
            <a:off x="8720584" y="2324100"/>
            <a:ext cx="318641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portrait</a:t>
            </a:r>
            <a:endParaRPr lang="en-US" sz="525" dirty="0"/>
          </a:p>
        </p:txBody>
      </p:sp>
      <p:sp>
        <p:nvSpPr>
          <p:cNvPr id="44" name="Text 42"/>
          <p:cNvSpPr/>
          <p:nvPr/>
        </p:nvSpPr>
        <p:spPr>
          <a:xfrm>
            <a:off x="952500" y="6581775"/>
            <a:ext cx="89058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5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principal — Resumen (landscape → portrait)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9582150" y="2257425"/>
            <a:ext cx="6477000" cy="4826000"/>
          </a:xfrm>
          <a:prstGeom prst="roundRect">
            <a:avLst>
              <a:gd name="adj" fmla="val 3636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60990" dir="306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763125" y="2438400"/>
            <a:ext cx="67265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activación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763125" y="3321050"/>
            <a:ext cx="541586" cy="276225"/>
          </a:xfrm>
          <a:prstGeom prst="roundRect">
            <a:avLst>
              <a:gd name="adj" fmla="val 48276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77425" y="3378200"/>
            <a:ext cx="38918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380911" y="3335338"/>
            <a:ext cx="622548" cy="247650"/>
          </a:xfrm>
          <a:prstGeom prst="roundRect">
            <a:avLst>
              <a:gd name="adj" fmla="val 50000"/>
            </a:avLst>
          </a:prstGeom>
          <a:solidFill>
            <a:srgbClr val="F3A53C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95211" y="3392488"/>
            <a:ext cx="4701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1079659" y="3321050"/>
            <a:ext cx="595313" cy="276225"/>
          </a:xfrm>
          <a:prstGeom prst="roundRect">
            <a:avLst>
              <a:gd name="adj" fmla="val 48276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193959" y="3378200"/>
            <a:ext cx="44291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846421" y="3392488"/>
            <a:ext cx="115550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activación: 14:32 (auto)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9763125" y="3692525"/>
            <a:ext cx="67265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incidente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9763125" y="3854450"/>
            <a:ext cx="3276600" cy="323850"/>
          </a:xfrm>
          <a:prstGeom prst="roundRect">
            <a:avLst>
              <a:gd name="adj" fmla="val 23529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7425" y="3930650"/>
            <a:ext cx="31462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Advertencia de aeronave</a:t>
            </a:r>
            <a:endParaRPr lang="en-US" sz="975" dirty="0"/>
          </a:p>
        </p:txBody>
      </p:sp>
      <p:sp>
        <p:nvSpPr>
          <p:cNvPr id="57" name="Shape 55"/>
          <p:cNvSpPr/>
          <p:nvPr/>
        </p:nvSpPr>
        <p:spPr>
          <a:xfrm>
            <a:off x="9763125" y="4425950"/>
            <a:ext cx="2962275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58" name="Text 56"/>
          <p:cNvSpPr/>
          <p:nvPr/>
        </p:nvSpPr>
        <p:spPr>
          <a:xfrm>
            <a:off x="9763125" y="4292600"/>
            <a:ext cx="325850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763125" y="4530725"/>
            <a:ext cx="161925" cy="161925"/>
          </a:xfrm>
          <a:prstGeom prst="roundRect">
            <a:avLst>
              <a:gd name="adj" fmla="val 17647"/>
            </a:avLst>
          </a:prstGeom>
          <a:solidFill>
            <a:srgbClr val="1F1F1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01250" y="4530725"/>
            <a:ext cx="17331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de Seguridad — Nombre Apellido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763125" y="4749800"/>
            <a:ext cx="161925" cy="161925"/>
          </a:xfrm>
          <a:prstGeom prst="roundRect">
            <a:avLst>
              <a:gd name="adj" fmla="val 17647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01250" y="4749800"/>
            <a:ext cx="1839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de Operaciones — Nombre Apellido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763125" y="4968875"/>
            <a:ext cx="161925" cy="161925"/>
          </a:xfrm>
          <a:prstGeom prst="roundRect">
            <a:avLst>
              <a:gd name="adj" fmla="val 17647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01250" y="4968875"/>
            <a:ext cx="14296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Manager — Nombre Apellido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2915900" y="4425950"/>
            <a:ext cx="2962275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6" name="Text 64"/>
          <p:cNvSpPr/>
          <p:nvPr/>
        </p:nvSpPr>
        <p:spPr>
          <a:xfrm>
            <a:off x="12915900" y="4292600"/>
            <a:ext cx="325850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2915900" y="4530725"/>
            <a:ext cx="161925" cy="161925"/>
          </a:xfrm>
          <a:prstGeom prst="roundRect">
            <a:avLst>
              <a:gd name="adj" fmla="val 17647"/>
            </a:avLst>
          </a:prstGeom>
          <a:solidFill>
            <a:srgbClr val="1F1F1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3154025" y="4530725"/>
            <a:ext cx="16371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Jefe de Rescate (CI) — Jorge Atarama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2915900" y="4749800"/>
            <a:ext cx="161925" cy="161925"/>
          </a:xfrm>
          <a:prstGeom prst="roundRect">
            <a:avLst>
              <a:gd name="adj" fmla="val 17647"/>
            </a:avLst>
          </a:prstGeom>
          <a:solidFill>
            <a:srgbClr val="1F1F1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3154025" y="4749800"/>
            <a:ext cx="16040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Sup. Gral. Rescate — Nombre Apellido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2915900" y="4968875"/>
            <a:ext cx="161925" cy="161925"/>
          </a:xfrm>
          <a:prstGeom prst="roundRect">
            <a:avLst>
              <a:gd name="adj" fmla="val 17647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3154025" y="4968875"/>
            <a:ext cx="16497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Rescate — Nombre Apellido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4561344" y="6540500"/>
            <a:ext cx="1316831" cy="361950"/>
          </a:xfrm>
          <a:prstGeom prst="roundRect">
            <a:avLst>
              <a:gd name="adj" fmla="val 21053"/>
            </a:avLst>
          </a:prstGeom>
          <a:solidFill>
            <a:srgbClr val="1F1F1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4732794" y="6635750"/>
            <a:ext cx="9739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activación</a:t>
            </a:r>
            <a:endParaRPr lang="en-US" sz="975" dirty="0"/>
          </a:p>
        </p:txBody>
      </p:sp>
      <p:sp>
        <p:nvSpPr>
          <p:cNvPr id="75" name="Text 73"/>
          <p:cNvSpPr/>
          <p:nvPr/>
        </p:nvSpPr>
        <p:spPr>
          <a:xfrm>
            <a:off x="9582150" y="7216775"/>
            <a:ext cx="7124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5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 de emergencia (Flujo A)</a:t>
            </a:r>
            <a:endParaRPr lang="en-US" sz="2100" dirty="0"/>
          </a:p>
        </p:txBody>
      </p:sp>
      <p:sp>
        <p:nvSpPr>
          <p:cNvPr id="76" name="Text 74"/>
          <p:cNvSpPr/>
          <p:nvPr/>
        </p:nvSpPr>
        <p:spPr>
          <a:xfrm>
            <a:off x="952500" y="7277100"/>
            <a:ext cx="58864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 y Desactivar como botones flotantes, siempre a mano.</a:t>
            </a:r>
            <a:endParaRPr lang="en-US" sz="2250" dirty="0"/>
          </a:p>
        </p:txBody>
      </p:sp>
      <p:sp>
        <p:nvSpPr>
          <p:cNvPr id="77" name="Text 75"/>
          <p:cNvSpPr/>
          <p:nvPr/>
        </p:nvSpPr>
        <p:spPr>
          <a:xfrm>
            <a:off x="7277100" y="7912100"/>
            <a:ext cx="58864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Portrait: la barra de tabs se comprime con scroll horizontal.</a:t>
            </a:r>
            <a:endParaRPr lang="en-US" sz="2250" dirty="0"/>
          </a:p>
        </p:txBody>
      </p:sp>
      <p:sp>
        <p:nvSpPr>
          <p:cNvPr id="78" name="Text 52">
            <a:extLst>
              <a:ext uri="{FF2B5EF4-FFF2-40B4-BE49-F238E27FC236}">
                <a16:creationId xmlns:a16="http://schemas.microsoft.com/office/drawing/2014/main" id="{3B8CAE87-382A-28BC-2DE3-3EC0A4EB20E3}"/>
              </a:ext>
            </a:extLst>
          </p:cNvPr>
          <p:cNvSpPr/>
          <p:nvPr/>
        </p:nvSpPr>
        <p:spPr>
          <a:xfrm>
            <a:off x="9763759" y="2686050"/>
            <a:ext cx="67271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 de emergencia</a:t>
            </a:r>
            <a:endParaRPr lang="en-US" sz="825" dirty="0"/>
          </a:p>
        </p:txBody>
      </p:sp>
      <p:sp>
        <p:nvSpPr>
          <p:cNvPr id="79" name="Shape 53">
            <a:extLst>
              <a:ext uri="{FF2B5EF4-FFF2-40B4-BE49-F238E27FC236}">
                <a16:creationId xmlns:a16="http://schemas.microsoft.com/office/drawing/2014/main" id="{A645F967-372F-1398-A3AA-C1696804573E}"/>
              </a:ext>
            </a:extLst>
          </p:cNvPr>
          <p:cNvSpPr/>
          <p:nvPr/>
        </p:nvSpPr>
        <p:spPr>
          <a:xfrm>
            <a:off x="9763760" y="2895600"/>
            <a:ext cx="3276600" cy="323850"/>
          </a:xfrm>
          <a:prstGeom prst="roundRect">
            <a:avLst>
              <a:gd name="adj" fmla="val 23529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80" name="Text 54">
            <a:extLst>
              <a:ext uri="{FF2B5EF4-FFF2-40B4-BE49-F238E27FC236}">
                <a16:creationId xmlns:a16="http://schemas.microsoft.com/office/drawing/2014/main" id="{EC680ECC-6BD1-FC93-9A9C-98F112E7572C}"/>
              </a:ext>
            </a:extLst>
          </p:cNvPr>
          <p:cNvSpPr/>
          <p:nvPr/>
        </p:nvSpPr>
        <p:spPr>
          <a:xfrm>
            <a:off x="9878060" y="2971800"/>
            <a:ext cx="31457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Aeronáutica ▾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1B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09675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lateral fijo con acciones en el header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57425"/>
            <a:ext cx="6477000" cy="4191000"/>
          </a:xfrm>
          <a:prstGeom prst="roundRect">
            <a:avLst>
              <a:gd name="adj" fmla="val 3636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60990" dir="306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1075" y="2762250"/>
            <a:ext cx="6419850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Text 4"/>
          <p:cNvSpPr/>
          <p:nvPr/>
        </p:nvSpPr>
        <p:spPr>
          <a:xfrm>
            <a:off x="1114425" y="2438400"/>
            <a:ext cx="3896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23107" y="2419350"/>
            <a:ext cx="1216521" cy="209550"/>
          </a:xfrm>
          <a:prstGeom prst="roundRect">
            <a:avLst>
              <a:gd name="adj" fmla="val 5000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8357" y="2457450"/>
            <a:ext cx="110222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de Seguridad · COE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4051250" y="2409825"/>
            <a:ext cx="751731" cy="228600"/>
          </a:xfrm>
          <a:prstGeom prst="roundRect">
            <a:avLst>
              <a:gd name="adj" fmla="val 50000"/>
            </a:avLst>
          </a:prstGeom>
          <a:solidFill>
            <a:srgbClr val="F3A53C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5550" y="2457450"/>
            <a:ext cx="5993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79181" y="2457450"/>
            <a:ext cx="5334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 14:32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5412581" y="2486025"/>
            <a:ext cx="76200" cy="76200"/>
          </a:xfrm>
          <a:prstGeom prst="ellipse">
            <a:avLst/>
          </a:prstGeom>
          <a:solidFill>
            <a:srgbClr val="4C8C5B"/>
          </a:solidFill>
          <a:ln/>
        </p:spPr>
      </p:sp>
      <p:sp>
        <p:nvSpPr>
          <p:cNvPr id="13" name="Text 11"/>
          <p:cNvSpPr/>
          <p:nvPr/>
        </p:nvSpPr>
        <p:spPr>
          <a:xfrm>
            <a:off x="5536406" y="2457450"/>
            <a:ext cx="5582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Sincronizado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6094661" y="2400300"/>
            <a:ext cx="471636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0861" y="2457450"/>
            <a:ext cx="31923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6642497" y="2400300"/>
            <a:ext cx="625078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8697" y="2457450"/>
            <a:ext cx="4726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Desactivar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1685925" y="2781300"/>
            <a:ext cx="19050" cy="36385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Text 17"/>
          <p:cNvSpPr/>
          <p:nvPr/>
        </p:nvSpPr>
        <p:spPr>
          <a:xfrm>
            <a:off x="1091505" y="2876550"/>
            <a:ext cx="48398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09229" y="3114675"/>
            <a:ext cx="24839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43893" y="3371850"/>
            <a:ext cx="37921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37791" y="3629025"/>
            <a:ext cx="3914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36452" y="3886200"/>
            <a:ext cx="3939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mando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16372" y="6200775"/>
            <a:ext cx="31045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⋯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838325" y="2914650"/>
            <a:ext cx="5972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838325" y="3114675"/>
            <a:ext cx="59721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Convocatoria — COE 2/3 · PMM 3/3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38325" y="3352800"/>
            <a:ext cx="3257550" cy="7620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28" name="Shape 26"/>
          <p:cNvSpPr/>
          <p:nvPr/>
        </p:nvSpPr>
        <p:spPr>
          <a:xfrm>
            <a:off x="1838325" y="3486150"/>
            <a:ext cx="2280196" cy="7620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29" name="Shape 27"/>
          <p:cNvSpPr/>
          <p:nvPr/>
        </p:nvSpPr>
        <p:spPr>
          <a:xfrm>
            <a:off x="1838325" y="3619500"/>
            <a:ext cx="2714625" cy="7620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0000" y="2257425"/>
            <a:ext cx="1428750" cy="2247900"/>
          </a:xfrm>
          <a:prstGeom prst="roundRect">
            <a:avLst>
              <a:gd name="adj" fmla="val 9333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47625" dir="318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63815" y="2362200"/>
            <a:ext cx="13411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 · 14:32</a:t>
            </a:r>
            <a:endParaRPr lang="en-US" sz="675" dirty="0"/>
          </a:p>
        </p:txBody>
      </p:sp>
      <p:sp>
        <p:nvSpPr>
          <p:cNvPr id="32" name="Shape 30"/>
          <p:cNvSpPr/>
          <p:nvPr/>
        </p:nvSpPr>
        <p:spPr>
          <a:xfrm>
            <a:off x="7785795" y="2524125"/>
            <a:ext cx="1097161" cy="5715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33" name="Shape 31"/>
          <p:cNvSpPr/>
          <p:nvPr/>
        </p:nvSpPr>
        <p:spPr>
          <a:xfrm>
            <a:off x="7907685" y="2628900"/>
            <a:ext cx="853380" cy="5715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34" name="Shape 32"/>
          <p:cNvSpPr/>
          <p:nvPr/>
        </p:nvSpPr>
        <p:spPr>
          <a:xfrm>
            <a:off x="7648575" y="4295775"/>
            <a:ext cx="1371600" cy="180975"/>
          </a:xfrm>
          <a:prstGeom prst="rect">
            <a:avLst/>
          </a:prstGeom>
          <a:solidFill>
            <a:srgbClr val="FFFDFA"/>
          </a:solidFill>
          <a:ln/>
        </p:spPr>
      </p:sp>
      <p:sp>
        <p:nvSpPr>
          <p:cNvPr id="35" name="Shape 33"/>
          <p:cNvSpPr/>
          <p:nvPr/>
        </p:nvSpPr>
        <p:spPr>
          <a:xfrm>
            <a:off x="7648575" y="4295775"/>
            <a:ext cx="1371600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6" name="Text 34"/>
          <p:cNvSpPr/>
          <p:nvPr/>
        </p:nvSpPr>
        <p:spPr>
          <a:xfrm>
            <a:off x="7629525" y="4352925"/>
            <a:ext cx="34290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Res.</a:t>
            </a:r>
            <a:endParaRPr lang="en-US" sz="525" dirty="0"/>
          </a:p>
        </p:txBody>
      </p:sp>
      <p:sp>
        <p:nvSpPr>
          <p:cNvPr id="37" name="Text 35"/>
          <p:cNvSpPr/>
          <p:nvPr/>
        </p:nvSpPr>
        <p:spPr>
          <a:xfrm>
            <a:off x="7896225" y="4352925"/>
            <a:ext cx="34290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525" dirty="0"/>
          </a:p>
        </p:txBody>
      </p:sp>
      <p:sp>
        <p:nvSpPr>
          <p:cNvPr id="38" name="Text 36"/>
          <p:cNvSpPr/>
          <p:nvPr/>
        </p:nvSpPr>
        <p:spPr>
          <a:xfrm>
            <a:off x="8162925" y="4352925"/>
            <a:ext cx="34290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Unid.</a:t>
            </a:r>
            <a:endParaRPr lang="en-US" sz="525" dirty="0"/>
          </a:p>
        </p:txBody>
      </p:sp>
      <p:sp>
        <p:nvSpPr>
          <p:cNvPr id="39" name="Text 37"/>
          <p:cNvSpPr/>
          <p:nvPr/>
        </p:nvSpPr>
        <p:spPr>
          <a:xfrm>
            <a:off x="8429625" y="4352925"/>
            <a:ext cx="34290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</a:t>
            </a:r>
            <a:endParaRPr lang="en-US" sz="525" dirty="0"/>
          </a:p>
        </p:txBody>
      </p:sp>
      <p:sp>
        <p:nvSpPr>
          <p:cNvPr id="40" name="Text 38"/>
          <p:cNvSpPr/>
          <p:nvPr/>
        </p:nvSpPr>
        <p:spPr>
          <a:xfrm>
            <a:off x="8696325" y="4352925"/>
            <a:ext cx="34290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Cad.</a:t>
            </a:r>
            <a:endParaRPr lang="en-US" sz="525" dirty="0"/>
          </a:p>
        </p:txBody>
      </p:sp>
      <p:sp>
        <p:nvSpPr>
          <p:cNvPr id="41" name="Text 39"/>
          <p:cNvSpPr/>
          <p:nvPr/>
        </p:nvSpPr>
        <p:spPr>
          <a:xfrm>
            <a:off x="8640812" y="2324100"/>
            <a:ext cx="398413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rail→abajo</a:t>
            </a:r>
            <a:endParaRPr lang="en-US" sz="525" dirty="0"/>
          </a:p>
        </p:txBody>
      </p:sp>
      <p:sp>
        <p:nvSpPr>
          <p:cNvPr id="42" name="Text 40"/>
          <p:cNvSpPr/>
          <p:nvPr/>
        </p:nvSpPr>
        <p:spPr>
          <a:xfrm>
            <a:off x="952500" y="6581775"/>
            <a:ext cx="89058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5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principal — Resumen (landscape → portrait)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9582150" y="2257425"/>
            <a:ext cx="6477000" cy="4191000"/>
          </a:xfrm>
          <a:prstGeom prst="roundRect">
            <a:avLst>
              <a:gd name="adj" fmla="val 3636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60990" dir="306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744075" y="2419350"/>
            <a:ext cx="15716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744075" y="2638425"/>
            <a:ext cx="161925" cy="161925"/>
          </a:xfrm>
          <a:prstGeom prst="roundRect">
            <a:avLst>
              <a:gd name="adj" fmla="val 17647"/>
            </a:avLst>
          </a:prstGeom>
          <a:solidFill>
            <a:srgbClr val="1F1F1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82200" y="2638425"/>
            <a:ext cx="50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Cuadrícula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744075" y="2857500"/>
            <a:ext cx="161925" cy="161925"/>
          </a:xfrm>
          <a:prstGeom prst="roundRect">
            <a:avLst>
              <a:gd name="adj" fmla="val 17647"/>
            </a:avLst>
          </a:prstGeom>
          <a:solidFill>
            <a:srgbClr val="1F1F1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82200" y="2857500"/>
            <a:ext cx="4512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744075" y="3076575"/>
            <a:ext cx="161925" cy="161925"/>
          </a:xfrm>
          <a:prstGeom prst="roundRect">
            <a:avLst>
              <a:gd name="adj" fmla="val 17647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82200" y="3076575"/>
            <a:ext cx="4003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744075" y="3295650"/>
            <a:ext cx="161925" cy="161925"/>
          </a:xfrm>
          <a:prstGeom prst="roundRect">
            <a:avLst>
              <a:gd name="adj" fmla="val 17647"/>
            </a:avLst>
          </a:prstGeom>
          <a:ln w="19050">
            <a:solidFill>
              <a:srgbClr val="B7B2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82200" y="3309938"/>
            <a:ext cx="740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B7B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(fase 2)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9744075" y="3638550"/>
            <a:ext cx="1428750" cy="590550"/>
          </a:xfrm>
          <a:prstGeom prst="roundRect">
            <a:avLst>
              <a:gd name="adj" fmla="val 12903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39325" y="3733800"/>
            <a:ext cx="13620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Tipo: Fuga GLP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9839325" y="3867150"/>
            <a:ext cx="13620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Hora: 14:20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9839325" y="4000500"/>
            <a:ext cx="13620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Riesgo: Alto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11287125" y="2419350"/>
            <a:ext cx="4610100" cy="3867150"/>
          </a:xfrm>
          <a:prstGeom prst="roundRect">
            <a:avLst>
              <a:gd name="adj" fmla="val 2463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06175" y="2438400"/>
            <a:ext cx="4572000" cy="3829050"/>
          </a:xfrm>
          <a:prstGeom prst="rect">
            <a:avLst/>
          </a:prstGeom>
          <a:gradFill rotWithShape="1">
            <a:gsLst>
              <a:gs pos="0">
                <a:srgbClr val="D8DAD4">
                  <a:alpha val="100000"/>
                </a:srgbClr>
              </a:gs>
              <a:gs pos="100000">
                <a:srgbClr val="EEF1E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59" name="Shape 57"/>
          <p:cNvSpPr/>
          <p:nvPr/>
        </p:nvSpPr>
        <p:spPr>
          <a:xfrm rot="-2700000">
            <a:off x="13409265" y="4046488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0"/>
                </a:moveTo>
                <a:lnTo>
                  <a:pt x="104775" y="0"/>
                </a:lnTo>
                <a:arcTo wR="104775" hR="104775" stAng="16200000" swAng="5400000"/>
                <a:lnTo>
                  <a:pt x="209550" y="104775"/>
                </a:lnTo>
                <a:arcTo wR="104775" hR="104775" stAng="0" swAng="5400000"/>
                <a:lnTo>
                  <a:pt x="0" y="209550"/>
                </a:lnTo>
                <a:lnTo>
                  <a:pt x="0" y="104775"/>
                </a:lnTo>
                <a:arcTo wR="104775" hR="104775" stAng="10800000" swAng="5400000"/>
                <a:close/>
              </a:path>
            </a:pathLst>
          </a:custGeom>
          <a:solidFill>
            <a:srgbClr val="C62828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592175" y="3816846"/>
            <a:ext cx="709761" cy="171450"/>
          </a:xfrm>
          <a:prstGeom prst="roundRect">
            <a:avLst>
              <a:gd name="adj" fmla="val 33333"/>
            </a:avLst>
          </a:prstGeom>
          <a:solidFill>
            <a:srgbClr val="C62828"/>
          </a:solidFill>
          <a:ln/>
        </p:spPr>
      </p:sp>
      <p:sp>
        <p:nvSpPr>
          <p:cNvPr id="61" name="Text 59"/>
          <p:cNvSpPr/>
          <p:nvPr/>
        </p:nvSpPr>
        <p:spPr>
          <a:xfrm>
            <a:off x="13649325" y="3835896"/>
            <a:ext cx="671661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sincronizar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5490180" y="5600700"/>
            <a:ext cx="292745" cy="571500"/>
          </a:xfrm>
          <a:prstGeom prst="roundRect">
            <a:avLst>
              <a:gd name="adj" fmla="val 26029"/>
            </a:avLst>
          </a:prstGeom>
          <a:solidFill>
            <a:srgbClr val="FFFDFA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509230" y="5876925"/>
            <a:ext cx="254645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4" name="Text 62"/>
          <p:cNvSpPr/>
          <p:nvPr/>
        </p:nvSpPr>
        <p:spPr>
          <a:xfrm>
            <a:off x="15604480" y="5657850"/>
            <a:ext cx="14034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5604480" y="5934075"/>
            <a:ext cx="14034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1382375" y="6096000"/>
            <a:ext cx="7756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OpenStreetMap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9582150" y="6581775"/>
            <a:ext cx="7124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5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geoespacial (Flujo C)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952500" y="7277100"/>
            <a:ext cx="58864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rail deja el header libre para Relevo y Desactivar en línea.</a:t>
            </a:r>
            <a:endParaRPr lang="en-US" sz="2250" dirty="0"/>
          </a:p>
        </p:txBody>
      </p:sp>
      <p:sp>
        <p:nvSpPr>
          <p:cNvPr id="69" name="Text 67"/>
          <p:cNvSpPr/>
          <p:nvPr/>
        </p:nvSpPr>
        <p:spPr>
          <a:xfrm>
            <a:off x="7277100" y="7277100"/>
            <a:ext cx="58864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Portrait: el rail baja y se convierte en fila de íconos.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1C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09675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 de estado grande con tabs debajo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57425"/>
            <a:ext cx="6477000" cy="4191000"/>
          </a:xfrm>
          <a:prstGeom prst="roundRect">
            <a:avLst>
              <a:gd name="adj" fmla="val 3636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60990" dir="306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1075" y="2286000"/>
            <a:ext cx="6419850" cy="685800"/>
          </a:xfrm>
          <a:prstGeom prst="rect">
            <a:avLst/>
          </a:prstGeom>
          <a:solidFill>
            <a:srgbClr val="F3A53C"/>
          </a:solidFill>
          <a:ln/>
        </p:spPr>
      </p:sp>
      <p:sp>
        <p:nvSpPr>
          <p:cNvPr id="6" name="Shape 4"/>
          <p:cNvSpPr/>
          <p:nvPr/>
        </p:nvSpPr>
        <p:spPr>
          <a:xfrm>
            <a:off x="981075" y="2943225"/>
            <a:ext cx="6419850" cy="28575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Text 5"/>
          <p:cNvSpPr/>
          <p:nvPr/>
        </p:nvSpPr>
        <p:spPr>
          <a:xfrm>
            <a:off x="1152525" y="2419350"/>
            <a:ext cx="2088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52525" y="2647950"/>
            <a:ext cx="20884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Advertencia de aeronave · activo hace 00:14:32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81810" y="2466975"/>
            <a:ext cx="2748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</a:t>
            </a: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2/3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813846" y="2466975"/>
            <a:ext cx="2748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 </a:t>
            </a: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5183981" y="2576513"/>
            <a:ext cx="76200" cy="76200"/>
          </a:xfrm>
          <a:prstGeom prst="ellipse">
            <a:avLst/>
          </a:prstGeom>
          <a:solidFill>
            <a:srgbClr val="4C8C5B"/>
          </a:solidFill>
          <a:ln/>
        </p:spPr>
      </p:sp>
      <p:sp>
        <p:nvSpPr>
          <p:cNvPr id="12" name="Text 10"/>
          <p:cNvSpPr/>
          <p:nvPr/>
        </p:nvSpPr>
        <p:spPr>
          <a:xfrm>
            <a:off x="5307806" y="2547938"/>
            <a:ext cx="5582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Sincronizado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923211" y="2481263"/>
            <a:ext cx="509736" cy="2667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8461" y="2547937"/>
            <a:ext cx="31923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6566297" y="2481263"/>
            <a:ext cx="663178" cy="2667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1547" y="2547937"/>
            <a:ext cx="4726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Desactivar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981075" y="3219450"/>
            <a:ext cx="6419850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8" name="Text 16"/>
          <p:cNvSpPr/>
          <p:nvPr/>
        </p:nvSpPr>
        <p:spPr>
          <a:xfrm>
            <a:off x="1038225" y="3028950"/>
            <a:ext cx="1169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131070" y="3028950"/>
            <a:ext cx="116919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224064" y="3028950"/>
            <a:ext cx="1169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316909" y="3028950"/>
            <a:ext cx="1169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Comunicaciones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409754" y="3028950"/>
            <a:ext cx="1169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mando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502598" y="3028950"/>
            <a:ext cx="84117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⋯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1114425" y="3429000"/>
            <a:ext cx="3691830" cy="7620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4425" y="3562350"/>
            <a:ext cx="2584252" cy="7620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4425" y="3695700"/>
            <a:ext cx="3076575" cy="7620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0" y="2257425"/>
            <a:ext cx="1428750" cy="2247900"/>
          </a:xfrm>
          <a:prstGeom prst="roundRect">
            <a:avLst>
              <a:gd name="adj" fmla="val 9333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47625" dir="318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48575" y="2286000"/>
            <a:ext cx="1371600" cy="438150"/>
          </a:xfrm>
          <a:prstGeom prst="rect">
            <a:avLst/>
          </a:prstGeom>
          <a:solidFill>
            <a:srgbClr val="F3A53C"/>
          </a:solidFill>
          <a:ln/>
        </p:spPr>
      </p:sp>
      <p:sp>
        <p:nvSpPr>
          <p:cNvPr id="29" name="Shape 27"/>
          <p:cNvSpPr/>
          <p:nvPr/>
        </p:nvSpPr>
        <p:spPr>
          <a:xfrm>
            <a:off x="7648575" y="2705100"/>
            <a:ext cx="1371600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0" name="Text 28"/>
          <p:cNvSpPr/>
          <p:nvPr/>
        </p:nvSpPr>
        <p:spPr>
          <a:xfrm>
            <a:off x="7724775" y="2343150"/>
            <a:ext cx="13411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724775" y="2457450"/>
            <a:ext cx="134112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14:32 · COE 2/3 · PMM 3/3</a:t>
            </a:r>
            <a:endParaRPr lang="en-US" sz="525" dirty="0"/>
          </a:p>
        </p:txBody>
      </p:sp>
      <p:sp>
        <p:nvSpPr>
          <p:cNvPr id="32" name="Text 30"/>
          <p:cNvSpPr/>
          <p:nvPr/>
        </p:nvSpPr>
        <p:spPr>
          <a:xfrm>
            <a:off x="7724775" y="2562225"/>
            <a:ext cx="134112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 · Desactivar</a:t>
            </a:r>
            <a:endParaRPr lang="en-US" sz="525" dirty="0"/>
          </a:p>
        </p:txBody>
      </p:sp>
      <p:sp>
        <p:nvSpPr>
          <p:cNvPr id="33" name="Shape 31"/>
          <p:cNvSpPr/>
          <p:nvPr/>
        </p:nvSpPr>
        <p:spPr>
          <a:xfrm>
            <a:off x="7648575" y="2867025"/>
            <a:ext cx="1371600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4" name="Text 32"/>
          <p:cNvSpPr/>
          <p:nvPr/>
        </p:nvSpPr>
        <p:spPr>
          <a:xfrm>
            <a:off x="7610475" y="2752725"/>
            <a:ext cx="144780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· Mapa · Unid. ›</a:t>
            </a:r>
            <a:endParaRPr lang="en-US" sz="525" dirty="0"/>
          </a:p>
        </p:txBody>
      </p:sp>
      <p:sp>
        <p:nvSpPr>
          <p:cNvPr id="35" name="Shape 33"/>
          <p:cNvSpPr/>
          <p:nvPr/>
        </p:nvSpPr>
        <p:spPr>
          <a:xfrm>
            <a:off x="7846665" y="3009900"/>
            <a:ext cx="975271" cy="5715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36" name="Text 34"/>
          <p:cNvSpPr/>
          <p:nvPr/>
        </p:nvSpPr>
        <p:spPr>
          <a:xfrm>
            <a:off x="952500" y="6581775"/>
            <a:ext cx="89058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5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principal con banda de estado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9582150" y="2257425"/>
            <a:ext cx="6477000" cy="4191000"/>
          </a:xfrm>
          <a:prstGeom prst="roundRect">
            <a:avLst>
              <a:gd name="adj" fmla="val 3636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60990" dir="306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763125" y="2438400"/>
            <a:ext cx="67265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mando — historial de relevos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617393" y="2705100"/>
            <a:ext cx="32061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9763125" y="2943225"/>
            <a:ext cx="28575" cy="8191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41" name="Text 39"/>
          <p:cNvSpPr/>
          <p:nvPr/>
        </p:nvSpPr>
        <p:spPr>
          <a:xfrm>
            <a:off x="9925050" y="2943225"/>
            <a:ext cx="30279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 · 07:40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9925050" y="3076575"/>
            <a:ext cx="30279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Manager (inicial)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9925050" y="3457575"/>
            <a:ext cx="30279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08:10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9925050" y="3590925"/>
            <a:ext cx="30279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Manager → Gerente de Seguridad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2817793" y="2705100"/>
            <a:ext cx="32061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 · CI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12963525" y="2943225"/>
            <a:ext cx="28575" cy="8191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47" name="Text 45"/>
          <p:cNvSpPr/>
          <p:nvPr/>
        </p:nvSpPr>
        <p:spPr>
          <a:xfrm>
            <a:off x="13125450" y="2943225"/>
            <a:ext cx="30279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 · 07:41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13125450" y="3076575"/>
            <a:ext cx="30279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Gral. Rescate (inicial)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3125450" y="3457575"/>
            <a:ext cx="30279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07:58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3125450" y="3590925"/>
            <a:ext cx="30279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Sup. Gral. Rescate → Jefe de Rescate (CI)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9582150" y="6581775"/>
            <a:ext cx="7124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5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mando — historial de relevos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52500" y="7277100"/>
            <a:ext cx="58864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estado de la emergencia domina la pantalla en todo momento.</a:t>
            </a:r>
            <a:endParaRPr lang="en-US" sz="2250" dirty="0"/>
          </a:p>
        </p:txBody>
      </p:sp>
      <p:sp>
        <p:nvSpPr>
          <p:cNvPr id="53" name="Text 51"/>
          <p:cNvSpPr/>
          <p:nvPr/>
        </p:nvSpPr>
        <p:spPr>
          <a:xfrm>
            <a:off x="7277100" y="7277100"/>
            <a:ext cx="58864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mando en 2 carriles paralelos, uno por instancia.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1D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09675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de tarjetas grandes, sin barra de tabs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57425"/>
            <a:ext cx="6477000" cy="4191000"/>
          </a:xfrm>
          <a:prstGeom prst="roundRect">
            <a:avLst>
              <a:gd name="adj" fmla="val 3636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60990" dir="306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1075" y="2705100"/>
            <a:ext cx="6419850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1133475" y="2381250"/>
            <a:ext cx="1139279" cy="228600"/>
          </a:xfrm>
          <a:prstGeom prst="roundRect">
            <a:avLst>
              <a:gd name="adj" fmla="val 50000"/>
            </a:avLst>
          </a:prstGeom>
          <a:solidFill>
            <a:srgbClr val="F3A53C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7775" y="2428875"/>
            <a:ext cx="9868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 · 14:32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42646" y="2457450"/>
            <a:ext cx="76200" cy="76200"/>
          </a:xfrm>
          <a:prstGeom prst="ellipse">
            <a:avLst/>
          </a:prstGeom>
          <a:solidFill>
            <a:srgbClr val="4C8C5B"/>
          </a:solidFill>
          <a:ln/>
        </p:spPr>
      </p:sp>
      <p:sp>
        <p:nvSpPr>
          <p:cNvPr id="9" name="Text 7"/>
          <p:cNvSpPr/>
          <p:nvPr/>
        </p:nvSpPr>
        <p:spPr>
          <a:xfrm>
            <a:off x="6766471" y="2428875"/>
            <a:ext cx="5582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Sincronizado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1114425" y="2857500"/>
            <a:ext cx="1466850" cy="1404938"/>
          </a:xfrm>
          <a:prstGeom prst="roundRect">
            <a:avLst>
              <a:gd name="adj" fmla="val 678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5450" y="3312319"/>
            <a:ext cx="304800" cy="304800"/>
          </a:xfrm>
          <a:prstGeom prst="roundRect">
            <a:avLst>
              <a:gd name="adj" fmla="val 1875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1907" y="3674269"/>
            <a:ext cx="4080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2676525" y="2857500"/>
            <a:ext cx="1466850" cy="1404938"/>
          </a:xfrm>
          <a:prstGeom prst="roundRect">
            <a:avLst>
              <a:gd name="adj" fmla="val 678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7550" y="3312319"/>
            <a:ext cx="304800" cy="304800"/>
          </a:xfrm>
          <a:prstGeom prst="roundRect">
            <a:avLst>
              <a:gd name="adj" fmla="val 1875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5146" y="3674269"/>
            <a:ext cx="2656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4238625" y="2857500"/>
            <a:ext cx="1466850" cy="1404938"/>
          </a:xfrm>
          <a:prstGeom prst="roundRect">
            <a:avLst>
              <a:gd name="adj" fmla="val 678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9650" y="3312319"/>
            <a:ext cx="304800" cy="304800"/>
          </a:xfrm>
          <a:prstGeom prst="roundRect">
            <a:avLst>
              <a:gd name="adj" fmla="val 1875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5363" y="3674269"/>
            <a:ext cx="409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5800725" y="2857500"/>
            <a:ext cx="1466850" cy="1404938"/>
          </a:xfrm>
          <a:prstGeom prst="roundRect">
            <a:avLst>
              <a:gd name="adj" fmla="val 678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1750" y="3312319"/>
            <a:ext cx="304800" cy="304800"/>
          </a:xfrm>
          <a:prstGeom prst="roundRect">
            <a:avLst>
              <a:gd name="adj" fmla="val 1875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3517" y="3674269"/>
            <a:ext cx="6773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Comunicaciones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1114425" y="4357688"/>
            <a:ext cx="1466850" cy="1404938"/>
          </a:xfrm>
          <a:prstGeom prst="roundRect">
            <a:avLst>
              <a:gd name="adj" fmla="val 678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95450" y="4812506"/>
            <a:ext cx="304800" cy="304800"/>
          </a:xfrm>
          <a:prstGeom prst="roundRect">
            <a:avLst>
              <a:gd name="adj" fmla="val 1875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26232" y="5174456"/>
            <a:ext cx="719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mando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2676525" y="4357688"/>
            <a:ext cx="1466850" cy="1404938"/>
          </a:xfrm>
          <a:prstGeom prst="roundRect">
            <a:avLst>
              <a:gd name="adj" fmla="val 678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57550" y="4812506"/>
            <a:ext cx="304800" cy="304800"/>
          </a:xfrm>
          <a:prstGeom prst="roundRect">
            <a:avLst>
              <a:gd name="adj" fmla="val 1875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9485" y="5174456"/>
            <a:ext cx="37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Pre-PAI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4238625" y="4357688"/>
            <a:ext cx="1466850" cy="1404938"/>
          </a:xfrm>
          <a:prstGeom prst="roundRect">
            <a:avLst>
              <a:gd name="adj" fmla="val 678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19650" y="4812506"/>
            <a:ext cx="304800" cy="304800"/>
          </a:xfrm>
          <a:prstGeom prst="roundRect">
            <a:avLst>
              <a:gd name="adj" fmla="val 18750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4618" y="5174456"/>
            <a:ext cx="4110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981075" y="5895975"/>
            <a:ext cx="6419850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9776" y="6010275"/>
            <a:ext cx="1053554" cy="314325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2176" y="6086475"/>
            <a:ext cx="7487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 de mando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58580" y="6010275"/>
            <a:ext cx="813495" cy="314325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10980" y="6086475"/>
            <a:ext cx="5086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Desactivar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20000" y="2257425"/>
            <a:ext cx="1428750" cy="2247900"/>
          </a:xfrm>
          <a:prstGeom prst="roundRect">
            <a:avLst>
              <a:gd name="adj" fmla="val 9333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47625" dir="318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63815" y="2362200"/>
            <a:ext cx="13411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 · 14:32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7724775" y="2514600"/>
            <a:ext cx="581025" cy="361950"/>
          </a:xfrm>
          <a:prstGeom prst="roundRect">
            <a:avLst>
              <a:gd name="adj" fmla="val 15789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62950" y="2514600"/>
            <a:ext cx="581025" cy="361950"/>
          </a:xfrm>
          <a:prstGeom prst="roundRect">
            <a:avLst>
              <a:gd name="adj" fmla="val 15789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24775" y="2933700"/>
            <a:ext cx="581025" cy="361950"/>
          </a:xfrm>
          <a:prstGeom prst="roundRect">
            <a:avLst>
              <a:gd name="adj" fmla="val 15789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62950" y="2933700"/>
            <a:ext cx="581025" cy="361950"/>
          </a:xfrm>
          <a:prstGeom prst="roundRect">
            <a:avLst>
              <a:gd name="adj" fmla="val 15789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2500" y="6581775"/>
            <a:ext cx="89058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5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de tarjetas (landscape → portrait)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9582150" y="2257425"/>
            <a:ext cx="6477000" cy="4191000"/>
          </a:xfrm>
          <a:prstGeom prst="roundRect">
            <a:avLst>
              <a:gd name="adj" fmla="val 3636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60990" dir="306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610725" y="2286000"/>
            <a:ext cx="6419850" cy="413385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296650" y="3043238"/>
            <a:ext cx="3048000" cy="2619375"/>
          </a:xfrm>
          <a:prstGeom prst="roundRect">
            <a:avLst>
              <a:gd name="adj" fmla="val 5091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496675" y="3243263"/>
            <a:ext cx="11215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 de mando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4043422" y="3243263"/>
            <a:ext cx="17740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11496675" y="3509963"/>
            <a:ext cx="443508" cy="276225"/>
          </a:xfrm>
          <a:prstGeom prst="roundRect">
            <a:avLst>
              <a:gd name="adj" fmla="val 48276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630025" y="3567113"/>
            <a:ext cx="2530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2016383" y="3509963"/>
            <a:ext cx="533400" cy="276225"/>
          </a:xfrm>
          <a:prstGeom prst="roundRect">
            <a:avLst>
              <a:gd name="adj" fmla="val 48276"/>
            </a:avLst>
          </a:prstGeom>
          <a:solidFill>
            <a:srgbClr val="F3A53C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149733" y="3567113"/>
            <a:ext cx="3429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96675" y="3900488"/>
            <a:ext cx="29127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1496675" y="4062412"/>
            <a:ext cx="2647950" cy="323850"/>
          </a:xfrm>
          <a:prstGeom prst="roundRect">
            <a:avLst>
              <a:gd name="adj" fmla="val 23529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610975" y="4138612"/>
            <a:ext cx="24987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Sup. Gral. Rescate — Nombre Apellido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11496675" y="4481513"/>
            <a:ext cx="29127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</a:t>
            </a:r>
            <a:endParaRPr lang="en-US" sz="825" dirty="0"/>
          </a:p>
        </p:txBody>
      </p:sp>
      <p:sp>
        <p:nvSpPr>
          <p:cNvPr id="56" name="Shape 54"/>
          <p:cNvSpPr/>
          <p:nvPr/>
        </p:nvSpPr>
        <p:spPr>
          <a:xfrm>
            <a:off x="11496675" y="4643438"/>
            <a:ext cx="2647950" cy="323850"/>
          </a:xfrm>
          <a:prstGeom prst="roundRect">
            <a:avLst>
              <a:gd name="adj" fmla="val 23529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610975" y="4719638"/>
            <a:ext cx="24987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Jefe de Rescate (CI) — Jorge Atarama</a:t>
            </a:r>
            <a:endParaRPr lang="en-US" sz="975" dirty="0"/>
          </a:p>
        </p:txBody>
      </p:sp>
      <p:sp>
        <p:nvSpPr>
          <p:cNvPr id="58" name="Shape 56"/>
          <p:cNvSpPr/>
          <p:nvPr/>
        </p:nvSpPr>
        <p:spPr>
          <a:xfrm>
            <a:off x="11496675" y="5100638"/>
            <a:ext cx="2647950" cy="361950"/>
          </a:xfrm>
          <a:prstGeom prst="roundRect">
            <a:avLst>
              <a:gd name="adj" fmla="val 21053"/>
            </a:avLst>
          </a:prstGeom>
          <a:solidFill>
            <a:srgbClr val="1F1F1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552206" y="5195888"/>
            <a:ext cx="25368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</a:t>
            </a:r>
            <a:endParaRPr lang="en-US" sz="975" dirty="0"/>
          </a:p>
        </p:txBody>
      </p:sp>
      <p:sp>
        <p:nvSpPr>
          <p:cNvPr id="60" name="Text 58"/>
          <p:cNvSpPr/>
          <p:nvPr/>
        </p:nvSpPr>
        <p:spPr>
          <a:xfrm>
            <a:off x="9582150" y="6581775"/>
            <a:ext cx="7124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5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 de mando (Flujo D)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952500" y="7277100"/>
            <a:ext cx="58864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Pre-PAI y Reportes son tarjetas más, no un menú aparte.</a:t>
            </a:r>
            <a:endParaRPr lang="en-US" sz="2250" dirty="0"/>
          </a:p>
        </p:txBody>
      </p:sp>
      <p:sp>
        <p:nvSpPr>
          <p:cNvPr id="62" name="Text 60"/>
          <p:cNvSpPr/>
          <p:nvPr/>
        </p:nvSpPr>
        <p:spPr>
          <a:xfrm>
            <a:off x="7277100" y="7277100"/>
            <a:ext cx="58864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 se abre como modal en 1 toque desde cualquier pantalla.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1E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09675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partido COE / PMM permanente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57425"/>
            <a:ext cx="6477000" cy="4191000"/>
          </a:xfrm>
          <a:prstGeom prst="roundRect">
            <a:avLst>
              <a:gd name="adj" fmla="val 3636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60990" dir="306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1075" y="2724150"/>
            <a:ext cx="6419850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1114425" y="2390775"/>
            <a:ext cx="751731" cy="228600"/>
          </a:xfrm>
          <a:prstGeom prst="roundRect">
            <a:avLst>
              <a:gd name="adj" fmla="val 50000"/>
            </a:avLst>
          </a:prstGeom>
          <a:solidFill>
            <a:srgbClr val="F3A53C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8725" y="2438400"/>
            <a:ext cx="5993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04916" y="2438400"/>
            <a:ext cx="27384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14:32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5078760" y="2466975"/>
            <a:ext cx="76200" cy="76200"/>
          </a:xfrm>
          <a:prstGeom prst="ellipse">
            <a:avLst/>
          </a:prstGeom>
          <a:solidFill>
            <a:srgbClr val="4C8C5B"/>
          </a:solidFill>
          <a:ln/>
        </p:spPr>
      </p:sp>
      <p:sp>
        <p:nvSpPr>
          <p:cNvPr id="10" name="Text 8"/>
          <p:cNvSpPr/>
          <p:nvPr/>
        </p:nvSpPr>
        <p:spPr>
          <a:xfrm>
            <a:off x="5202585" y="2438400"/>
            <a:ext cx="5582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Sincronizado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5760839" y="2381250"/>
            <a:ext cx="471636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37039" y="2438400"/>
            <a:ext cx="31923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6308675" y="2381250"/>
            <a:ext cx="625078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4875" y="2438400"/>
            <a:ext cx="4726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Desactivar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009954" y="2438400"/>
            <a:ext cx="33382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⋯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981075" y="2990850"/>
            <a:ext cx="6419850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7" name="Text 15"/>
          <p:cNvSpPr/>
          <p:nvPr/>
        </p:nvSpPr>
        <p:spPr>
          <a:xfrm>
            <a:off x="1014033" y="2800350"/>
            <a:ext cx="13704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259866" y="2800350"/>
            <a:ext cx="13705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505862" y="2800350"/>
            <a:ext cx="13704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51703" y="2800350"/>
            <a:ext cx="13704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Comunicaciones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997543" y="2800350"/>
            <a:ext cx="13704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mando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4181475" y="3009900"/>
            <a:ext cx="19050" cy="34099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23" name="Text 21"/>
          <p:cNvSpPr/>
          <p:nvPr/>
        </p:nvSpPr>
        <p:spPr>
          <a:xfrm>
            <a:off x="1095375" y="3124200"/>
            <a:ext cx="326898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95375" y="3314700"/>
            <a:ext cx="2080171" cy="7620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5375" y="3448050"/>
            <a:ext cx="1485900" cy="7620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26" name="Text 24"/>
          <p:cNvSpPr/>
          <p:nvPr/>
        </p:nvSpPr>
        <p:spPr>
          <a:xfrm>
            <a:off x="4314825" y="3124200"/>
            <a:ext cx="326898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 · CI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14825" y="3314700"/>
            <a:ext cx="2080171" cy="7620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28" name="Shape 26"/>
          <p:cNvSpPr/>
          <p:nvPr/>
        </p:nvSpPr>
        <p:spPr>
          <a:xfrm>
            <a:off x="4314825" y="3448050"/>
            <a:ext cx="1485900" cy="76200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0000" y="2257425"/>
            <a:ext cx="1428750" cy="2247900"/>
          </a:xfrm>
          <a:prstGeom prst="roundRect">
            <a:avLst>
              <a:gd name="adj" fmla="val 9333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47625" dir="318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63815" y="2362200"/>
            <a:ext cx="13411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 · 14:32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7724775" y="2781300"/>
            <a:ext cx="1219200" cy="190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2" name="Text 30"/>
          <p:cNvSpPr/>
          <p:nvPr/>
        </p:nvSpPr>
        <p:spPr>
          <a:xfrm>
            <a:off x="7724775" y="2514600"/>
            <a:ext cx="134112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7724775" y="2638425"/>
            <a:ext cx="975271" cy="47625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34" name="Text 32"/>
          <p:cNvSpPr/>
          <p:nvPr/>
        </p:nvSpPr>
        <p:spPr>
          <a:xfrm>
            <a:off x="7724775" y="2857500"/>
            <a:ext cx="134112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 · CI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7724775" y="2981325"/>
            <a:ext cx="975271" cy="47625"/>
          </a:xfrm>
          <a:prstGeom prst="roundRect">
            <a:avLst>
              <a:gd name="adj" fmla="val 50000"/>
            </a:avLst>
          </a:prstGeom>
          <a:solidFill>
            <a:srgbClr val="DDD7CA"/>
          </a:solidFill>
          <a:ln/>
        </p:spPr>
      </p:sp>
      <p:sp>
        <p:nvSpPr>
          <p:cNvPr id="36" name="Text 34"/>
          <p:cNvSpPr/>
          <p:nvPr/>
        </p:nvSpPr>
        <p:spPr>
          <a:xfrm>
            <a:off x="8747968" y="2324100"/>
            <a:ext cx="291257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apilado</a:t>
            </a:r>
            <a:endParaRPr lang="en-US" sz="525" dirty="0"/>
          </a:p>
        </p:txBody>
      </p:sp>
      <p:sp>
        <p:nvSpPr>
          <p:cNvPr id="37" name="Text 35"/>
          <p:cNvSpPr/>
          <p:nvPr/>
        </p:nvSpPr>
        <p:spPr>
          <a:xfrm>
            <a:off x="952500" y="6581775"/>
            <a:ext cx="89058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5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partido — Resumen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9582150" y="2257425"/>
            <a:ext cx="6477000" cy="4191000"/>
          </a:xfrm>
          <a:prstGeom prst="roundRect">
            <a:avLst>
              <a:gd name="adj" fmla="val 3636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60990" dir="306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2811125" y="2286000"/>
            <a:ext cx="19050" cy="413385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40" name="Text 38"/>
          <p:cNvSpPr/>
          <p:nvPr/>
        </p:nvSpPr>
        <p:spPr>
          <a:xfrm>
            <a:off x="9763125" y="2438400"/>
            <a:ext cx="31851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9763125" y="2657475"/>
            <a:ext cx="2895600" cy="885825"/>
          </a:xfrm>
          <a:prstGeom prst="roundRect">
            <a:avLst>
              <a:gd name="adj" fmla="val 8602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7425" y="2771775"/>
            <a:ext cx="2933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inicial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877425" y="2943225"/>
            <a:ext cx="29337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Tipo: Advertencia de aeronave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77425" y="3105150"/>
            <a:ext cx="29337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Magnitud: Moderada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877425" y="3267075"/>
            <a:ext cx="29337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Riesgos: Derrame de combustible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763125" y="3638550"/>
            <a:ext cx="31851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Convocatoria COE — 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763125" y="3829050"/>
            <a:ext cx="161925" cy="161925"/>
          </a:xfrm>
          <a:prstGeom prst="roundRect">
            <a:avLst>
              <a:gd name="adj" fmla="val 17647"/>
            </a:avLst>
          </a:prstGeom>
          <a:solidFill>
            <a:srgbClr val="1F1F1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01250" y="3829050"/>
            <a:ext cx="9434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de Seguridad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763125" y="4048125"/>
            <a:ext cx="161925" cy="161925"/>
          </a:xfrm>
          <a:prstGeom prst="roundRect">
            <a:avLst>
              <a:gd name="adj" fmla="val 17647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01250" y="4048125"/>
            <a:ext cx="6399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Manager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2982575" y="2438400"/>
            <a:ext cx="31851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 · CI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12982575" y="2657475"/>
            <a:ext cx="31851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Convocatoria PMM — 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2982575" y="2847975"/>
            <a:ext cx="161925" cy="161925"/>
          </a:xfrm>
          <a:prstGeom prst="roundRect">
            <a:avLst>
              <a:gd name="adj" fmla="val 17647"/>
            </a:avLst>
          </a:prstGeom>
          <a:solidFill>
            <a:srgbClr val="1F1F1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220700" y="2847975"/>
            <a:ext cx="9041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Jefe de Rescate (CI)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2982575" y="3067050"/>
            <a:ext cx="161925" cy="161925"/>
          </a:xfrm>
          <a:prstGeom prst="roundRect">
            <a:avLst>
              <a:gd name="adj" fmla="val 17647"/>
            </a:avLst>
          </a:prstGeom>
          <a:solidFill>
            <a:srgbClr val="1F1F1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220700" y="3067050"/>
            <a:ext cx="8142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Sup. Gral. Rescate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2982575" y="3352800"/>
            <a:ext cx="31851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Últimos eventos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2982575" y="3486150"/>
            <a:ext cx="31851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14:28 — Unidad R11 en ruta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12982575" y="3619500"/>
            <a:ext cx="31851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14:24 — Marcador de incidente creado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9582150" y="6581775"/>
            <a:ext cx="7124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55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del Resumen (COE | PMM)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952500" y="7277100"/>
            <a:ext cx="58864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COE / PMM del Flujo A se repite en toda la app.</a:t>
            </a:r>
            <a:endParaRPr lang="en-US" sz="2250" dirty="0"/>
          </a:p>
        </p:txBody>
      </p:sp>
      <p:sp>
        <p:nvSpPr>
          <p:cNvPr id="62" name="Text 60"/>
          <p:cNvSpPr/>
          <p:nvPr/>
        </p:nvSpPr>
        <p:spPr>
          <a:xfrm>
            <a:off x="7277100" y="7277100"/>
            <a:ext cx="58864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Portrait: las columnas se apilan — COE arriba, PMM abajo.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1F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09675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y selección de rol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3567113"/>
            <a:ext cx="3810000" cy="466725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28575">
            <a:solidFill>
              <a:srgbClr val="1F1F1F"/>
            </a:solidFill>
            <a:prstDash val="solid"/>
          </a:ln>
          <a:effectLst>
            <a:outerShdw blurRad="101600" dist="60990" dir="306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25613" y="4052888"/>
            <a:ext cx="6637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99506" y="4452938"/>
            <a:ext cx="17158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4A4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Puesto de Comando y Administración de Emergencias — SSEI AIJC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247775" y="5062538"/>
            <a:ext cx="35413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47775" y="5262563"/>
            <a:ext cx="3219450" cy="371475"/>
          </a:xfrm>
          <a:prstGeom prst="roundRect">
            <a:avLst>
              <a:gd name="adj" fmla="val 20513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2833" y="5357813"/>
            <a:ext cx="30493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jrescate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47775" y="5767388"/>
            <a:ext cx="35413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47775" y="5967413"/>
            <a:ext cx="3219450" cy="371475"/>
          </a:xfrm>
          <a:prstGeom prst="roundRect">
            <a:avLst>
              <a:gd name="adj" fmla="val 20513"/>
            </a:avLst>
          </a:prstGeom>
          <a:ln w="19050">
            <a:solidFill>
              <a:srgbClr val="1F1F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2833" y="6062663"/>
            <a:ext cx="30493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47775" y="6510338"/>
            <a:ext cx="3219450" cy="428625"/>
          </a:xfrm>
          <a:prstGeom prst="roundRect">
            <a:avLst>
              <a:gd name="adj" fmla="val 17778"/>
            </a:avLst>
          </a:prstGeom>
          <a:solidFill>
            <a:srgbClr val="1F1F1F"/>
          </a:solidFill>
          <a:ln w="19050">
            <a:solidFill>
              <a:srgbClr val="1F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3783" y="6624638"/>
            <a:ext cx="308743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328416" y="7815263"/>
            <a:ext cx="105816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Airport Partners · AIJC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19750" y="5117753"/>
            <a:ext cx="88296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login para COE y PMM — el rol define permisos, no la pantalla.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619750" y="6256883"/>
            <a:ext cx="94297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sin conexión si ya iniciaste sesión antes.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486150"/>
            <a:ext cx="171831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33500" y="4876800"/>
            <a:ext cx="171831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Elegir una dirección o combinar ideas entre las opciones 1A–1E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333500" y="5619750"/>
            <a:ext cx="171831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Pasar la dirección elegida a diseño de alta fidelidad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333500" y="6362700"/>
            <a:ext cx="171831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Confirmar con Renzo el formato final de "Cadena de mando"</a:t>
            </a:r>
            <a:endParaRPr lang="en-US" sz="25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9FEF2E5-2901-7AB7-A3D9-72FC68223D97}"/>
              </a:ext>
            </a:extLst>
          </p:cNvPr>
          <p:cNvSpPr/>
          <p:nvPr/>
        </p:nvSpPr>
        <p:spPr>
          <a:xfrm>
            <a:off x="1485900" y="6889750"/>
            <a:ext cx="171831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5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Confirmado (30/07): el selector de categoría de emergencia no agrega clics de navegación — mantiene el límite de 3 clics del PRD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955</Words>
  <Application>Microsoft Office PowerPoint</Application>
  <PresentationFormat>Personalizado</PresentationFormat>
  <Paragraphs>221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Renzo Rodrigo Vigo Rojas</cp:lastModifiedBy>
  <cp:revision>5</cp:revision>
  <dcterms:created xsi:type="dcterms:W3CDTF">2026-07-30T15:37:21Z</dcterms:created>
  <dcterms:modified xsi:type="dcterms:W3CDTF">2026-07-30T20:13:51Z</dcterms:modified>
</cp:coreProperties>
</file>