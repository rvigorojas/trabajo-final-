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38" d="100"/>
          <a:sy n="38" d="100"/>
        </p:scale>
        <p:origin x="30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6320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Bienvenida: este es un wireframe de estructura para el PCE, basado en el PRD v0.8, ya con el logo y la paleta de Lima Airport aplicados. El objetivo de hoy es validar flujos.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Activación de emergencia: probamos 3 estructuras distintas para pasar de notificación a Alerta I/II/III y convocar COE y PMM. El PRD exige máximo 3 clics — cada opción lo resuelve distinto: selector directo, wizard guiado, o panel dividido.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Vista COE en la Sala de Crisis: dashboard de 4 cuadrantes, sidebar con foco central, o tabs superiores por capa de mando. Las tres muestran nivel de alerta, mapa, convocatoria y línea de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geoespacial con el área real del Aeropuerto Jorge Chávez, ambas pistas, radio ~10km, con control de zoom. v1 solo permite marcar manualmente la ubicación del incidente — la posición en vivo de unidades vía GETAC queda fuera de alcance. Una opción incluye el estado offline para tablets sin señal en pista.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Relevo de mando: modal sobre el dashboard, timeline persistente de doble carril (COE y PMM en paralelo), o una tarjeta rápida de un solo tap. El Plan de Emergencia exige registrar hora, saliente y entrante en cada relevo.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D2370">
                  <a:alpha val="100000"/>
                </a:srgbClr>
              </a:gs>
              <a:gs pos="100000">
                <a:srgbClr val="18407E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s-P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3500" y="2805113"/>
            <a:ext cx="990600" cy="990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3500" y="4176712"/>
            <a:ext cx="171831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56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SSEI · LIMA AIRPORT PARTNERS · BORRADOR PARA REVISIÓN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333500" y="4776788"/>
            <a:ext cx="15716250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720"/>
              </a:lnSpc>
              <a:buNone/>
            </a:pPr>
            <a:r>
              <a:rPr lang="en-US" sz="8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 del PCE</a:t>
            </a:r>
            <a:endParaRPr lang="en-US" sz="8100" dirty="0"/>
          </a:p>
        </p:txBody>
      </p:sp>
      <p:sp>
        <p:nvSpPr>
          <p:cNvPr id="6" name="Text 3"/>
          <p:cNvSpPr/>
          <p:nvPr/>
        </p:nvSpPr>
        <p:spPr>
          <a:xfrm>
            <a:off x="1333500" y="6085433"/>
            <a:ext cx="1466850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31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Puesto de Comando y Administración de Emergencias — Aeropuerto Jorge Chávez</a:t>
            </a:r>
            <a:endParaRPr lang="en-US" sz="3150" dirty="0"/>
          </a:p>
        </p:txBody>
      </p:sp>
      <p:sp>
        <p:nvSpPr>
          <p:cNvPr id="7" name="Text 4"/>
          <p:cNvSpPr/>
          <p:nvPr/>
        </p:nvSpPr>
        <p:spPr>
          <a:xfrm>
            <a:off x="1333500" y="7176939"/>
            <a:ext cx="17183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de julio, 2026 · Estructura, no estilo final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840200" y="381000"/>
            <a:ext cx="533400" cy="533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85725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6D2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A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1295400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652"/>
              </a:lnSpc>
              <a:buNone/>
            </a:pPr>
            <a:r>
              <a:rPr lang="en-US" sz="4500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Activación de emergencia — Alerta I/II/III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914400" y="2390775"/>
            <a:ext cx="400050" cy="295275"/>
          </a:xfrm>
          <a:prstGeom prst="roundRect">
            <a:avLst>
              <a:gd name="adj" fmla="val 16129"/>
            </a:avLst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1009650" y="2428875"/>
            <a:ext cx="24955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09700" y="2343150"/>
            <a:ext cx="30977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2D66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 de alerta primero</a:t>
            </a:r>
            <a:endParaRPr lang="en-US" sz="1875" dirty="0"/>
          </a:p>
        </p:txBody>
      </p:sp>
      <p:sp>
        <p:nvSpPr>
          <p:cNvPr id="8" name="Shape 5"/>
          <p:cNvSpPr/>
          <p:nvPr/>
        </p:nvSpPr>
        <p:spPr>
          <a:xfrm>
            <a:off x="914400" y="2819400"/>
            <a:ext cx="5353050" cy="3562350"/>
          </a:xfrm>
          <a:prstGeom prst="roundRect">
            <a:avLst>
              <a:gd name="adj" fmla="val 2139"/>
            </a:avLst>
          </a:prstGeom>
          <a:solidFill>
            <a:srgbClr val="FBFAF7"/>
          </a:solidFill>
          <a:ln w="9525">
            <a:solidFill>
              <a:srgbClr val="3A2D66">
                <a:alpha val="15000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6"/>
          <p:cNvSpPr/>
          <p:nvPr/>
        </p:nvSpPr>
        <p:spPr>
          <a:xfrm>
            <a:off x="923925" y="2828925"/>
            <a:ext cx="5334000" cy="371475"/>
          </a:xfrm>
          <a:prstGeom prst="rect">
            <a:avLst/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7"/>
          <p:cNvSpPr/>
          <p:nvPr/>
        </p:nvSpPr>
        <p:spPr>
          <a:xfrm>
            <a:off x="1076325" y="2924175"/>
            <a:ext cx="22510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 activación · Advertencia de aeronave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96583" y="2924175"/>
            <a:ext cx="18514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23925" y="3638550"/>
            <a:ext cx="5334000" cy="9525"/>
          </a:xfrm>
          <a:prstGeom prst="rect">
            <a:avLst/>
          </a:prstGeom>
          <a:solidFill>
            <a:srgbClr val="3A2D66">
              <a:alpha val="1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Shape 10"/>
          <p:cNvSpPr/>
          <p:nvPr/>
        </p:nvSpPr>
        <p:spPr>
          <a:xfrm>
            <a:off x="1095375" y="3352800"/>
            <a:ext cx="209550" cy="209550"/>
          </a:xfrm>
          <a:prstGeom prst="ellipse">
            <a:avLst/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1"/>
          <p:cNvSpPr/>
          <p:nvPr/>
        </p:nvSpPr>
        <p:spPr>
          <a:xfrm>
            <a:off x="1057275" y="3352800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85714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381125" y="3371850"/>
            <a:ext cx="72568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de alerta</a:t>
            </a:r>
            <a:endParaRPr lang="en-US" sz="975" dirty="0"/>
          </a:p>
        </p:txBody>
      </p:sp>
      <p:sp>
        <p:nvSpPr>
          <p:cNvPr id="16" name="Shape 13"/>
          <p:cNvSpPr/>
          <p:nvPr/>
        </p:nvSpPr>
        <p:spPr>
          <a:xfrm>
            <a:off x="2106811" y="3452813"/>
            <a:ext cx="1054447" cy="9525"/>
          </a:xfrm>
          <a:prstGeom prst="rect">
            <a:avLst/>
          </a:prstGeom>
          <a:solidFill>
            <a:srgbClr val="3A2D66">
              <a:alpha val="2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Shape 14"/>
          <p:cNvSpPr/>
          <p:nvPr/>
        </p:nvSpPr>
        <p:spPr>
          <a:xfrm>
            <a:off x="3237458" y="3352800"/>
            <a:ext cx="209550" cy="209550"/>
          </a:xfrm>
          <a:prstGeom prst="ellipse">
            <a:avLst/>
          </a:prstGeom>
          <a:solidFill>
            <a:srgbClr val="3A2D66">
              <a:alpha val="1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5"/>
          <p:cNvSpPr/>
          <p:nvPr/>
        </p:nvSpPr>
        <p:spPr>
          <a:xfrm>
            <a:off x="3199358" y="3352800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85714"/>
              </a:lnSpc>
              <a:buNone/>
            </a:pPr>
            <a:r>
              <a:rPr lang="en-US" sz="900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523208" y="3371850"/>
            <a:ext cx="72925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A2D66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Tipo/magnitud</a:t>
            </a:r>
            <a:endParaRPr lang="en-US" sz="975" dirty="0"/>
          </a:p>
        </p:txBody>
      </p:sp>
      <p:sp>
        <p:nvSpPr>
          <p:cNvPr id="20" name="Shape 17"/>
          <p:cNvSpPr/>
          <p:nvPr/>
        </p:nvSpPr>
        <p:spPr>
          <a:xfrm>
            <a:off x="4252466" y="3452813"/>
            <a:ext cx="1054596" cy="9525"/>
          </a:xfrm>
          <a:prstGeom prst="rect">
            <a:avLst/>
          </a:prstGeom>
          <a:solidFill>
            <a:srgbClr val="3A2D66">
              <a:alpha val="2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Shape 18"/>
          <p:cNvSpPr/>
          <p:nvPr/>
        </p:nvSpPr>
        <p:spPr>
          <a:xfrm>
            <a:off x="5383262" y="3352800"/>
            <a:ext cx="209550" cy="209550"/>
          </a:xfrm>
          <a:prstGeom prst="ellipse">
            <a:avLst/>
          </a:prstGeom>
          <a:solidFill>
            <a:srgbClr val="3A2D66">
              <a:alpha val="1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Text 19"/>
          <p:cNvSpPr/>
          <p:nvPr/>
        </p:nvSpPr>
        <p:spPr>
          <a:xfrm>
            <a:off x="5345162" y="3352800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85714"/>
              </a:lnSpc>
              <a:buNone/>
            </a:pPr>
            <a:r>
              <a:rPr lang="en-US" sz="900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669012" y="3371850"/>
            <a:ext cx="49366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A2D66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Convocar</a:t>
            </a:r>
            <a:endParaRPr lang="en-US" sz="975" dirty="0"/>
          </a:p>
        </p:txBody>
      </p:sp>
      <p:sp>
        <p:nvSpPr>
          <p:cNvPr id="24" name="Shape 21"/>
          <p:cNvSpPr/>
          <p:nvPr/>
        </p:nvSpPr>
        <p:spPr>
          <a:xfrm>
            <a:off x="1095375" y="3800475"/>
            <a:ext cx="1600200" cy="628650"/>
          </a:xfrm>
          <a:prstGeom prst="roundRect">
            <a:avLst>
              <a:gd name="adj" fmla="val 9091"/>
            </a:avLst>
          </a:prstGeom>
          <a:solidFill>
            <a:srgbClr val="E7F2E9"/>
          </a:solidFill>
          <a:ln w="19050">
            <a:solidFill>
              <a:srgbClr val="4F9D6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2"/>
          <p:cNvSpPr/>
          <p:nvPr/>
        </p:nvSpPr>
        <p:spPr>
          <a:xfrm>
            <a:off x="1120140" y="3952875"/>
            <a:ext cx="155067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</a:t>
            </a:r>
            <a:endParaRPr lang="en-US" sz="1125" dirty="0"/>
          </a:p>
        </p:txBody>
      </p:sp>
      <p:sp>
        <p:nvSpPr>
          <p:cNvPr id="26" name="Text 23"/>
          <p:cNvSpPr/>
          <p:nvPr/>
        </p:nvSpPr>
        <p:spPr>
          <a:xfrm>
            <a:off x="1120140" y="4114800"/>
            <a:ext cx="155067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Monitoreo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790825" y="3800475"/>
            <a:ext cx="1600200" cy="628650"/>
          </a:xfrm>
          <a:prstGeom prst="roundRect">
            <a:avLst>
              <a:gd name="adj" fmla="val 9091"/>
            </a:avLst>
          </a:prstGeom>
          <a:solidFill>
            <a:srgbClr val="FAF0DD"/>
          </a:solidFill>
          <a:ln w="19050">
            <a:solidFill>
              <a:srgbClr val="A5721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5"/>
          <p:cNvSpPr/>
          <p:nvPr/>
        </p:nvSpPr>
        <p:spPr>
          <a:xfrm>
            <a:off x="2815590" y="3952875"/>
            <a:ext cx="155067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II</a:t>
            </a:r>
            <a:endParaRPr lang="en-US" sz="1125" dirty="0"/>
          </a:p>
        </p:txBody>
      </p:sp>
      <p:sp>
        <p:nvSpPr>
          <p:cNvPr id="29" name="Text 26"/>
          <p:cNvSpPr/>
          <p:nvPr/>
        </p:nvSpPr>
        <p:spPr>
          <a:xfrm>
            <a:off x="2815590" y="4114800"/>
            <a:ext cx="155067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A57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Parcial COE+PMM ✓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486275" y="3800475"/>
            <a:ext cx="1600200" cy="628650"/>
          </a:xfrm>
          <a:prstGeom prst="roundRect">
            <a:avLst>
              <a:gd name="adj" fmla="val 9091"/>
            </a:avLst>
          </a:prstGeom>
          <a:solidFill>
            <a:srgbClr val="F6E5E1"/>
          </a:solidFill>
          <a:ln w="19050">
            <a:solidFill>
              <a:srgbClr val="C0503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Text 28"/>
          <p:cNvSpPr/>
          <p:nvPr/>
        </p:nvSpPr>
        <p:spPr>
          <a:xfrm>
            <a:off x="4511040" y="3952875"/>
            <a:ext cx="155067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III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4511040" y="4114800"/>
            <a:ext cx="155067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C3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95375" y="4619625"/>
            <a:ext cx="26612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25" dirty="0">
                <a:solidFill>
                  <a:srgbClr val="3A2D66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 A CONVOCAR</a:t>
            </a:r>
            <a:endParaRPr lang="en-US" sz="825" dirty="0"/>
          </a:p>
        </p:txBody>
      </p:sp>
      <p:sp>
        <p:nvSpPr>
          <p:cNvPr id="34" name="Shape 31"/>
          <p:cNvSpPr/>
          <p:nvPr/>
        </p:nvSpPr>
        <p:spPr>
          <a:xfrm>
            <a:off x="1095375" y="4829175"/>
            <a:ext cx="152400" cy="152400"/>
          </a:xfrm>
          <a:prstGeom prst="roundRect">
            <a:avLst>
              <a:gd name="adj" fmla="val 18750"/>
            </a:avLst>
          </a:prstGeom>
          <a:ln w="9525">
            <a:solidFill>
              <a:srgbClr val="3A2D6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2"/>
          <p:cNvSpPr/>
          <p:nvPr/>
        </p:nvSpPr>
        <p:spPr>
          <a:xfrm>
            <a:off x="1323975" y="4819650"/>
            <a:ext cx="10156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Gerente de Seguridad</a:t>
            </a:r>
            <a:endParaRPr lang="en-US" sz="975" dirty="0"/>
          </a:p>
        </p:txBody>
      </p:sp>
      <p:sp>
        <p:nvSpPr>
          <p:cNvPr id="36" name="Shape 33"/>
          <p:cNvSpPr/>
          <p:nvPr/>
        </p:nvSpPr>
        <p:spPr>
          <a:xfrm>
            <a:off x="1095375" y="5057775"/>
            <a:ext cx="152400" cy="152400"/>
          </a:xfrm>
          <a:prstGeom prst="roundRect">
            <a:avLst>
              <a:gd name="adj" fmla="val 18750"/>
            </a:avLst>
          </a:prstGeom>
          <a:ln w="9525">
            <a:solidFill>
              <a:srgbClr val="3A2D6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7" name="Text 34"/>
          <p:cNvSpPr/>
          <p:nvPr/>
        </p:nvSpPr>
        <p:spPr>
          <a:xfrm>
            <a:off x="1323975" y="5048250"/>
            <a:ext cx="10041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Gerente Operaciones</a:t>
            </a:r>
            <a:endParaRPr lang="en-US" sz="975" dirty="0"/>
          </a:p>
        </p:txBody>
      </p:sp>
      <p:sp>
        <p:nvSpPr>
          <p:cNvPr id="38" name="Shape 35"/>
          <p:cNvSpPr/>
          <p:nvPr/>
        </p:nvSpPr>
        <p:spPr>
          <a:xfrm>
            <a:off x="1095375" y="5286375"/>
            <a:ext cx="152400" cy="152400"/>
          </a:xfrm>
          <a:prstGeom prst="roundRect">
            <a:avLst>
              <a:gd name="adj" fmla="val 18750"/>
            </a:avLst>
          </a:prstGeom>
          <a:ln w="9525">
            <a:solidFill>
              <a:srgbClr val="3A2D6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9" name="Text 36"/>
          <p:cNvSpPr/>
          <p:nvPr/>
        </p:nvSpPr>
        <p:spPr>
          <a:xfrm>
            <a:off x="1323975" y="5276850"/>
            <a:ext cx="6868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Duty Manager</a:t>
            </a:r>
            <a:endParaRPr lang="en-US" sz="975" dirty="0"/>
          </a:p>
        </p:txBody>
      </p:sp>
      <p:sp>
        <p:nvSpPr>
          <p:cNvPr id="40" name="Text 37"/>
          <p:cNvSpPr/>
          <p:nvPr/>
        </p:nvSpPr>
        <p:spPr>
          <a:xfrm>
            <a:off x="3667125" y="4619625"/>
            <a:ext cx="26612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25" dirty="0">
                <a:solidFill>
                  <a:srgbClr val="3A2D66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PMM A CONVOCAR</a:t>
            </a:r>
            <a:endParaRPr lang="en-US" sz="825" dirty="0"/>
          </a:p>
        </p:txBody>
      </p:sp>
      <p:sp>
        <p:nvSpPr>
          <p:cNvPr id="41" name="Shape 38"/>
          <p:cNvSpPr/>
          <p:nvPr/>
        </p:nvSpPr>
        <p:spPr>
          <a:xfrm>
            <a:off x="3667125" y="4829175"/>
            <a:ext cx="152400" cy="152400"/>
          </a:xfrm>
          <a:prstGeom prst="roundRect">
            <a:avLst>
              <a:gd name="adj" fmla="val 18750"/>
            </a:avLst>
          </a:prstGeom>
          <a:ln w="9525">
            <a:solidFill>
              <a:srgbClr val="3A2D6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2" name="Text 39"/>
          <p:cNvSpPr/>
          <p:nvPr/>
        </p:nvSpPr>
        <p:spPr>
          <a:xfrm>
            <a:off x="3895725" y="4819650"/>
            <a:ext cx="9731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Jefe de Rescate (CI)</a:t>
            </a:r>
            <a:endParaRPr lang="en-US" sz="975" dirty="0"/>
          </a:p>
        </p:txBody>
      </p:sp>
      <p:sp>
        <p:nvSpPr>
          <p:cNvPr id="43" name="Shape 40"/>
          <p:cNvSpPr/>
          <p:nvPr/>
        </p:nvSpPr>
        <p:spPr>
          <a:xfrm>
            <a:off x="3667125" y="5057775"/>
            <a:ext cx="152400" cy="152400"/>
          </a:xfrm>
          <a:prstGeom prst="roundRect">
            <a:avLst>
              <a:gd name="adj" fmla="val 18750"/>
            </a:avLst>
          </a:prstGeom>
          <a:ln w="9525">
            <a:solidFill>
              <a:srgbClr val="3A2D6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4" name="Text 41"/>
          <p:cNvSpPr/>
          <p:nvPr/>
        </p:nvSpPr>
        <p:spPr>
          <a:xfrm>
            <a:off x="3895725" y="5048250"/>
            <a:ext cx="8758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Sup. Gral. Rescate</a:t>
            </a:r>
            <a:endParaRPr lang="en-US" sz="975" dirty="0"/>
          </a:p>
        </p:txBody>
      </p:sp>
      <p:sp>
        <p:nvSpPr>
          <p:cNvPr id="45" name="Shape 42"/>
          <p:cNvSpPr/>
          <p:nvPr/>
        </p:nvSpPr>
        <p:spPr>
          <a:xfrm>
            <a:off x="3667125" y="5286375"/>
            <a:ext cx="152400" cy="152400"/>
          </a:xfrm>
          <a:prstGeom prst="roundRect">
            <a:avLst>
              <a:gd name="adj" fmla="val 18750"/>
            </a:avLst>
          </a:prstGeom>
          <a:ln w="9525">
            <a:solidFill>
              <a:srgbClr val="3A2D6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6" name="Text 43"/>
          <p:cNvSpPr/>
          <p:nvPr/>
        </p:nvSpPr>
        <p:spPr>
          <a:xfrm>
            <a:off x="3895725" y="5276850"/>
            <a:ext cx="9252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Rescate</a:t>
            </a:r>
            <a:endParaRPr lang="en-US" sz="975" dirty="0"/>
          </a:p>
        </p:txBody>
      </p:sp>
      <p:sp>
        <p:nvSpPr>
          <p:cNvPr id="47" name="Shape 44"/>
          <p:cNvSpPr/>
          <p:nvPr/>
        </p:nvSpPr>
        <p:spPr>
          <a:xfrm>
            <a:off x="923925" y="5562600"/>
            <a:ext cx="5334000" cy="809625"/>
          </a:xfrm>
          <a:prstGeom prst="rect">
            <a:avLst/>
          </a:prstGeom>
          <a:solidFill>
            <a:srgbClr val="3A2D66">
              <a:alpha val="4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8" name="Shape 45"/>
          <p:cNvSpPr/>
          <p:nvPr/>
        </p:nvSpPr>
        <p:spPr>
          <a:xfrm>
            <a:off x="923925" y="5562600"/>
            <a:ext cx="5334000" cy="9525"/>
          </a:xfrm>
          <a:prstGeom prst="rect">
            <a:avLst/>
          </a:prstGeom>
          <a:solidFill>
            <a:srgbClr val="3A2D66">
              <a:alpha val="1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9" name="Shape 46"/>
          <p:cNvSpPr/>
          <p:nvPr/>
        </p:nvSpPr>
        <p:spPr>
          <a:xfrm>
            <a:off x="1095375" y="5686425"/>
            <a:ext cx="4991100" cy="371475"/>
          </a:xfrm>
          <a:prstGeom prst="roundRect">
            <a:avLst>
              <a:gd name="adj" fmla="val 15385"/>
            </a:avLst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0" name="Text 47"/>
          <p:cNvSpPr/>
          <p:nvPr/>
        </p:nvSpPr>
        <p:spPr>
          <a:xfrm>
            <a:off x="1115759" y="5781675"/>
            <a:ext cx="495033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Notificar y registrar →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845820" y="6115050"/>
            <a:ext cx="549021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3A2D66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clics: nivel → tipo → notificar</a:t>
            </a:r>
            <a:endParaRPr lang="en-US" sz="825" dirty="0"/>
          </a:p>
        </p:txBody>
      </p:sp>
      <p:sp>
        <p:nvSpPr>
          <p:cNvPr id="52" name="Shape 49"/>
          <p:cNvSpPr/>
          <p:nvPr/>
        </p:nvSpPr>
        <p:spPr>
          <a:xfrm>
            <a:off x="6496050" y="2390775"/>
            <a:ext cx="400050" cy="295275"/>
          </a:xfrm>
          <a:prstGeom prst="roundRect">
            <a:avLst>
              <a:gd name="adj" fmla="val 16129"/>
            </a:avLst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3" name="Text 50"/>
          <p:cNvSpPr/>
          <p:nvPr/>
        </p:nvSpPr>
        <p:spPr>
          <a:xfrm>
            <a:off x="6591300" y="2428875"/>
            <a:ext cx="24955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1b</a:t>
            </a:r>
            <a:endParaRPr lang="en-US" sz="1500" dirty="0"/>
          </a:p>
        </p:txBody>
      </p:sp>
      <p:sp>
        <p:nvSpPr>
          <p:cNvPr id="54" name="Text 51"/>
          <p:cNvSpPr/>
          <p:nvPr/>
        </p:nvSpPr>
        <p:spPr>
          <a:xfrm>
            <a:off x="6991350" y="2343150"/>
            <a:ext cx="301277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2D66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Wizard lineal paso a paso</a:t>
            </a:r>
            <a:endParaRPr lang="en-US" sz="1875" dirty="0"/>
          </a:p>
        </p:txBody>
      </p:sp>
      <p:sp>
        <p:nvSpPr>
          <p:cNvPr id="55" name="Shape 52"/>
          <p:cNvSpPr/>
          <p:nvPr/>
        </p:nvSpPr>
        <p:spPr>
          <a:xfrm>
            <a:off x="6496050" y="2819400"/>
            <a:ext cx="5353050" cy="3724275"/>
          </a:xfrm>
          <a:prstGeom prst="roundRect">
            <a:avLst>
              <a:gd name="adj" fmla="val 2046"/>
            </a:avLst>
          </a:prstGeom>
          <a:solidFill>
            <a:srgbClr val="FBFAF7"/>
          </a:solidFill>
          <a:ln w="9525">
            <a:solidFill>
              <a:srgbClr val="3A2D66">
                <a:alpha val="15000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6" name="Shape 53"/>
          <p:cNvSpPr/>
          <p:nvPr/>
        </p:nvSpPr>
        <p:spPr>
          <a:xfrm>
            <a:off x="6505575" y="2828925"/>
            <a:ext cx="5334000" cy="371475"/>
          </a:xfrm>
          <a:prstGeom prst="rect">
            <a:avLst/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7" name="Text 54"/>
          <p:cNvSpPr/>
          <p:nvPr/>
        </p:nvSpPr>
        <p:spPr>
          <a:xfrm>
            <a:off x="6657975" y="2924175"/>
            <a:ext cx="518922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 activación — Paso 2 de 3</a:t>
            </a:r>
            <a:endParaRPr lang="en-US" sz="1050" dirty="0"/>
          </a:p>
        </p:txBody>
      </p:sp>
      <p:sp>
        <p:nvSpPr>
          <p:cNvPr id="58" name="Shape 55"/>
          <p:cNvSpPr/>
          <p:nvPr/>
        </p:nvSpPr>
        <p:spPr>
          <a:xfrm>
            <a:off x="6677025" y="3333750"/>
            <a:ext cx="1625501" cy="47625"/>
          </a:xfrm>
          <a:prstGeom prst="roundRect">
            <a:avLst>
              <a:gd name="adj" fmla="val 50000"/>
            </a:avLst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9" name="Shape 56"/>
          <p:cNvSpPr/>
          <p:nvPr/>
        </p:nvSpPr>
        <p:spPr>
          <a:xfrm>
            <a:off x="8359676" y="3333750"/>
            <a:ext cx="1625650" cy="47625"/>
          </a:xfrm>
          <a:prstGeom prst="roundRect">
            <a:avLst>
              <a:gd name="adj" fmla="val 50000"/>
            </a:avLst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0" name="Shape 57"/>
          <p:cNvSpPr/>
          <p:nvPr/>
        </p:nvSpPr>
        <p:spPr>
          <a:xfrm>
            <a:off x="10042475" y="3333750"/>
            <a:ext cx="1625650" cy="47625"/>
          </a:xfrm>
          <a:prstGeom prst="roundRect">
            <a:avLst>
              <a:gd name="adj" fmla="val 50000"/>
            </a:avLst>
          </a:prstGeom>
          <a:solidFill>
            <a:srgbClr val="3A2D66">
              <a:alpha val="1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1" name="Text 58"/>
          <p:cNvSpPr/>
          <p:nvPr/>
        </p:nvSpPr>
        <p:spPr>
          <a:xfrm>
            <a:off x="6677025" y="3514725"/>
            <a:ext cx="51511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A2D66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Paso 1 — Tipo: Advertencia de aeronave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6677025" y="3790950"/>
            <a:ext cx="549021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 — Nivel de alerta</a:t>
            </a:r>
            <a:endParaRPr lang="en-US" sz="1125" dirty="0"/>
          </a:p>
        </p:txBody>
      </p:sp>
      <p:sp>
        <p:nvSpPr>
          <p:cNvPr id="63" name="Shape 60"/>
          <p:cNvSpPr/>
          <p:nvPr/>
        </p:nvSpPr>
        <p:spPr>
          <a:xfrm>
            <a:off x="6677025" y="4048125"/>
            <a:ext cx="4991100" cy="381000"/>
          </a:xfrm>
          <a:prstGeom prst="roundRect">
            <a:avLst>
              <a:gd name="adj" fmla="val 15000"/>
            </a:avLst>
          </a:prstGeom>
          <a:ln w="9525">
            <a:solidFill>
              <a:srgbClr val="3A2D6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4" name="Shape 61"/>
          <p:cNvSpPr/>
          <p:nvPr/>
        </p:nvSpPr>
        <p:spPr>
          <a:xfrm>
            <a:off x="6781800" y="4152900"/>
            <a:ext cx="171450" cy="171450"/>
          </a:xfrm>
          <a:prstGeom prst="ellipse">
            <a:avLst/>
          </a:prstGeom>
          <a:ln w="9525">
            <a:solidFill>
              <a:srgbClr val="3A2D6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5" name="Text 62"/>
          <p:cNvSpPr/>
          <p:nvPr/>
        </p:nvSpPr>
        <p:spPr>
          <a:xfrm>
            <a:off x="7048500" y="4152900"/>
            <a:ext cx="17450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 — Monitoreo, sin activar COE</a:t>
            </a:r>
            <a:endParaRPr lang="en-US" sz="975" dirty="0"/>
          </a:p>
        </p:txBody>
      </p:sp>
      <p:sp>
        <p:nvSpPr>
          <p:cNvPr id="66" name="Shape 63"/>
          <p:cNvSpPr/>
          <p:nvPr/>
        </p:nvSpPr>
        <p:spPr>
          <a:xfrm>
            <a:off x="6677025" y="4505325"/>
            <a:ext cx="4991100" cy="457200"/>
          </a:xfrm>
          <a:prstGeom prst="roundRect">
            <a:avLst>
              <a:gd name="adj" fmla="val 12500"/>
            </a:avLst>
          </a:prstGeom>
          <a:solidFill>
            <a:srgbClr val="FAF0DD"/>
          </a:solidFill>
          <a:ln w="19050">
            <a:solidFill>
              <a:srgbClr val="A5721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7" name="Shape 64"/>
          <p:cNvSpPr/>
          <p:nvPr/>
        </p:nvSpPr>
        <p:spPr>
          <a:xfrm>
            <a:off x="6791325" y="4619625"/>
            <a:ext cx="228600" cy="228600"/>
          </a:xfrm>
          <a:prstGeom prst="ellipse">
            <a:avLst/>
          </a:prstGeom>
          <a:ln w="38100">
            <a:solidFill>
              <a:srgbClr val="A5721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8" name="Text 65"/>
          <p:cNvSpPr/>
          <p:nvPr/>
        </p:nvSpPr>
        <p:spPr>
          <a:xfrm>
            <a:off x="7115175" y="4648200"/>
            <a:ext cx="19182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II — Activación parcial COE + PMM</a:t>
            </a:r>
            <a:endParaRPr lang="en-US" sz="975" dirty="0"/>
          </a:p>
        </p:txBody>
      </p:sp>
      <p:sp>
        <p:nvSpPr>
          <p:cNvPr id="69" name="Shape 66"/>
          <p:cNvSpPr/>
          <p:nvPr/>
        </p:nvSpPr>
        <p:spPr>
          <a:xfrm>
            <a:off x="6677025" y="5038725"/>
            <a:ext cx="4991100" cy="381000"/>
          </a:xfrm>
          <a:prstGeom prst="roundRect">
            <a:avLst>
              <a:gd name="adj" fmla="val 15000"/>
            </a:avLst>
          </a:prstGeom>
          <a:ln w="9525">
            <a:solidFill>
              <a:srgbClr val="3A2D6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0" name="Shape 67"/>
          <p:cNvSpPr/>
          <p:nvPr/>
        </p:nvSpPr>
        <p:spPr>
          <a:xfrm>
            <a:off x="6781800" y="5143500"/>
            <a:ext cx="171450" cy="171450"/>
          </a:xfrm>
          <a:prstGeom prst="ellipse">
            <a:avLst/>
          </a:prstGeom>
          <a:ln w="9525">
            <a:solidFill>
              <a:srgbClr val="3A2D6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1" name="Text 68"/>
          <p:cNvSpPr/>
          <p:nvPr/>
        </p:nvSpPr>
        <p:spPr>
          <a:xfrm>
            <a:off x="7048500" y="5143500"/>
            <a:ext cx="17054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III — Activación general/total</a:t>
            </a:r>
            <a:endParaRPr lang="en-US" sz="975" dirty="0"/>
          </a:p>
        </p:txBody>
      </p:sp>
      <p:sp>
        <p:nvSpPr>
          <p:cNvPr id="72" name="Shape 69"/>
          <p:cNvSpPr/>
          <p:nvPr/>
        </p:nvSpPr>
        <p:spPr>
          <a:xfrm>
            <a:off x="6505575" y="5553075"/>
            <a:ext cx="5334000" cy="9525"/>
          </a:xfrm>
          <a:prstGeom prst="rect">
            <a:avLst/>
          </a:prstGeom>
          <a:solidFill>
            <a:srgbClr val="3A2D66">
              <a:alpha val="1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3" name="Text 70"/>
          <p:cNvSpPr/>
          <p:nvPr/>
        </p:nvSpPr>
        <p:spPr>
          <a:xfrm>
            <a:off x="6677025" y="5657850"/>
            <a:ext cx="51511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A2D66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 — Convocatoria automática según nivel (vista previa)</a:t>
            </a:r>
            <a:endParaRPr lang="en-US" sz="900" dirty="0"/>
          </a:p>
        </p:txBody>
      </p:sp>
      <p:sp>
        <p:nvSpPr>
          <p:cNvPr id="74" name="Shape 71"/>
          <p:cNvSpPr/>
          <p:nvPr/>
        </p:nvSpPr>
        <p:spPr>
          <a:xfrm>
            <a:off x="6505575" y="5915025"/>
            <a:ext cx="5334000" cy="619125"/>
          </a:xfrm>
          <a:prstGeom prst="rect">
            <a:avLst/>
          </a:prstGeom>
          <a:solidFill>
            <a:srgbClr val="3A2D66">
              <a:alpha val="4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5" name="Shape 72"/>
          <p:cNvSpPr/>
          <p:nvPr/>
        </p:nvSpPr>
        <p:spPr>
          <a:xfrm>
            <a:off x="6505575" y="5915025"/>
            <a:ext cx="5334000" cy="9525"/>
          </a:xfrm>
          <a:prstGeom prst="rect">
            <a:avLst/>
          </a:prstGeom>
          <a:solidFill>
            <a:srgbClr val="3A2D66">
              <a:alpha val="1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6" name="Shape 73"/>
          <p:cNvSpPr/>
          <p:nvPr/>
        </p:nvSpPr>
        <p:spPr>
          <a:xfrm>
            <a:off x="6677025" y="6038850"/>
            <a:ext cx="1708100" cy="381000"/>
          </a:xfrm>
          <a:prstGeom prst="roundRect">
            <a:avLst>
              <a:gd name="adj" fmla="val 15000"/>
            </a:avLst>
          </a:prstGeom>
          <a:ln w="9525">
            <a:solidFill>
              <a:srgbClr val="3A2D6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7" name="Text 74"/>
          <p:cNvSpPr/>
          <p:nvPr/>
        </p:nvSpPr>
        <p:spPr>
          <a:xfrm>
            <a:off x="6743700" y="6143625"/>
            <a:ext cx="15747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Atrás</a:t>
            </a:r>
            <a:endParaRPr lang="en-US" sz="975" dirty="0"/>
          </a:p>
        </p:txBody>
      </p:sp>
      <p:sp>
        <p:nvSpPr>
          <p:cNvPr id="78" name="Shape 75"/>
          <p:cNvSpPr/>
          <p:nvPr/>
        </p:nvSpPr>
        <p:spPr>
          <a:xfrm>
            <a:off x="8480375" y="6038850"/>
            <a:ext cx="3187750" cy="381000"/>
          </a:xfrm>
          <a:prstGeom prst="roundRect">
            <a:avLst>
              <a:gd name="adj" fmla="val 15000"/>
            </a:avLst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9" name="Text 76"/>
          <p:cNvSpPr/>
          <p:nvPr/>
        </p:nvSpPr>
        <p:spPr>
          <a:xfrm>
            <a:off x="8527809" y="6134100"/>
            <a:ext cx="309288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 →</a:t>
            </a:r>
            <a:endParaRPr lang="en-US" sz="975" dirty="0"/>
          </a:p>
        </p:txBody>
      </p:sp>
      <p:sp>
        <p:nvSpPr>
          <p:cNvPr id="80" name="Shape 77"/>
          <p:cNvSpPr/>
          <p:nvPr/>
        </p:nvSpPr>
        <p:spPr>
          <a:xfrm>
            <a:off x="12077700" y="2390775"/>
            <a:ext cx="400050" cy="295275"/>
          </a:xfrm>
          <a:prstGeom prst="roundRect">
            <a:avLst>
              <a:gd name="adj" fmla="val 16129"/>
            </a:avLst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1" name="Text 78"/>
          <p:cNvSpPr/>
          <p:nvPr/>
        </p:nvSpPr>
        <p:spPr>
          <a:xfrm>
            <a:off x="12172950" y="2428875"/>
            <a:ext cx="24955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1c</a:t>
            </a:r>
            <a:endParaRPr lang="en-US" sz="1500" dirty="0"/>
          </a:p>
        </p:txBody>
      </p:sp>
      <p:sp>
        <p:nvSpPr>
          <p:cNvPr id="82" name="Text 79"/>
          <p:cNvSpPr/>
          <p:nvPr/>
        </p:nvSpPr>
        <p:spPr>
          <a:xfrm>
            <a:off x="12573000" y="2343150"/>
            <a:ext cx="31375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2D66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dividido COE / PMM</a:t>
            </a:r>
            <a:endParaRPr lang="en-US" sz="1875" dirty="0"/>
          </a:p>
        </p:txBody>
      </p:sp>
      <p:sp>
        <p:nvSpPr>
          <p:cNvPr id="83" name="Shape 80"/>
          <p:cNvSpPr/>
          <p:nvPr/>
        </p:nvSpPr>
        <p:spPr>
          <a:xfrm>
            <a:off x="12077700" y="2819400"/>
            <a:ext cx="5353050" cy="2514600"/>
          </a:xfrm>
          <a:prstGeom prst="roundRect">
            <a:avLst>
              <a:gd name="adj" fmla="val 3030"/>
            </a:avLst>
          </a:prstGeom>
          <a:solidFill>
            <a:srgbClr val="FBFAF7"/>
          </a:solidFill>
          <a:ln w="9525">
            <a:solidFill>
              <a:srgbClr val="3A2D66">
                <a:alpha val="15000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84" name="Shape 81"/>
          <p:cNvSpPr/>
          <p:nvPr/>
        </p:nvSpPr>
        <p:spPr>
          <a:xfrm>
            <a:off x="12087225" y="2828925"/>
            <a:ext cx="5334000" cy="371475"/>
          </a:xfrm>
          <a:prstGeom prst="rect">
            <a:avLst/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5" name="Text 82"/>
          <p:cNvSpPr/>
          <p:nvPr/>
        </p:nvSpPr>
        <p:spPr>
          <a:xfrm>
            <a:off x="12239625" y="2924175"/>
            <a:ext cx="518922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 activación</a:t>
            </a:r>
            <a:endParaRPr lang="en-US" sz="1050" dirty="0"/>
          </a:p>
        </p:txBody>
      </p:sp>
      <p:sp>
        <p:nvSpPr>
          <p:cNvPr id="86" name="Shape 83"/>
          <p:cNvSpPr/>
          <p:nvPr/>
        </p:nvSpPr>
        <p:spPr>
          <a:xfrm>
            <a:off x="12087225" y="3562350"/>
            <a:ext cx="5334000" cy="9525"/>
          </a:xfrm>
          <a:prstGeom prst="rect">
            <a:avLst/>
          </a:prstGeom>
          <a:solidFill>
            <a:srgbClr val="3A2D66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7" name="Shape 84"/>
          <p:cNvSpPr/>
          <p:nvPr/>
        </p:nvSpPr>
        <p:spPr>
          <a:xfrm>
            <a:off x="12087225" y="3200400"/>
            <a:ext cx="1777901" cy="361950"/>
          </a:xfrm>
          <a:prstGeom prst="rect">
            <a:avLst/>
          </a:prstGeom>
          <a:solidFill>
            <a:srgbClr val="E7F2E9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8" name="Text 85"/>
          <p:cNvSpPr/>
          <p:nvPr/>
        </p:nvSpPr>
        <p:spPr>
          <a:xfrm>
            <a:off x="12144375" y="3295650"/>
            <a:ext cx="166360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3D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</a:t>
            </a:r>
            <a:endParaRPr lang="en-US" sz="975" dirty="0"/>
          </a:p>
        </p:txBody>
      </p:sp>
      <p:sp>
        <p:nvSpPr>
          <p:cNvPr id="89" name="Shape 86"/>
          <p:cNvSpPr/>
          <p:nvPr/>
        </p:nvSpPr>
        <p:spPr>
          <a:xfrm>
            <a:off x="13865126" y="3200400"/>
            <a:ext cx="1778050" cy="361950"/>
          </a:xfrm>
          <a:prstGeom prst="rect">
            <a:avLst/>
          </a:prstGeom>
          <a:solidFill>
            <a:srgbClr val="FAF0D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0" name="Text 87"/>
          <p:cNvSpPr/>
          <p:nvPr/>
        </p:nvSpPr>
        <p:spPr>
          <a:xfrm>
            <a:off x="13922276" y="3295650"/>
            <a:ext cx="16637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A57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II</a:t>
            </a:r>
            <a:endParaRPr lang="en-US" sz="975" dirty="0"/>
          </a:p>
        </p:txBody>
      </p:sp>
      <p:sp>
        <p:nvSpPr>
          <p:cNvPr id="91" name="Shape 88"/>
          <p:cNvSpPr/>
          <p:nvPr/>
        </p:nvSpPr>
        <p:spPr>
          <a:xfrm>
            <a:off x="15643175" y="3200400"/>
            <a:ext cx="1778050" cy="361950"/>
          </a:xfrm>
          <a:prstGeom prst="rect">
            <a:avLst/>
          </a:prstGeom>
          <a:solidFill>
            <a:srgbClr val="C0503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2" name="Text 89"/>
          <p:cNvSpPr/>
          <p:nvPr/>
        </p:nvSpPr>
        <p:spPr>
          <a:xfrm>
            <a:off x="15700325" y="3295650"/>
            <a:ext cx="16637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III ✓</a:t>
            </a:r>
            <a:endParaRPr lang="en-US" sz="975" dirty="0"/>
          </a:p>
        </p:txBody>
      </p:sp>
      <p:sp>
        <p:nvSpPr>
          <p:cNvPr id="93" name="Shape 90"/>
          <p:cNvSpPr/>
          <p:nvPr/>
        </p:nvSpPr>
        <p:spPr>
          <a:xfrm>
            <a:off x="14749462" y="3571875"/>
            <a:ext cx="9525" cy="1152525"/>
          </a:xfrm>
          <a:prstGeom prst="rect">
            <a:avLst/>
          </a:prstGeom>
          <a:solidFill>
            <a:srgbClr val="3A2D66">
              <a:alpha val="2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4" name="Text 91"/>
          <p:cNvSpPr/>
          <p:nvPr/>
        </p:nvSpPr>
        <p:spPr>
          <a:xfrm>
            <a:off x="12239625" y="3705225"/>
            <a:ext cx="259318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25" dirty="0">
                <a:solidFill>
                  <a:srgbClr val="3A2D66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</a:t>
            </a:r>
            <a:endParaRPr lang="en-US" sz="825" dirty="0"/>
          </a:p>
        </p:txBody>
      </p:sp>
      <p:sp>
        <p:nvSpPr>
          <p:cNvPr id="95" name="Text 92"/>
          <p:cNvSpPr/>
          <p:nvPr/>
        </p:nvSpPr>
        <p:spPr>
          <a:xfrm>
            <a:off x="12239625" y="3924300"/>
            <a:ext cx="8895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Gerente Seguridad</a:t>
            </a:r>
            <a:endParaRPr lang="en-US" sz="975" dirty="0"/>
          </a:p>
        </p:txBody>
      </p:sp>
      <p:sp>
        <p:nvSpPr>
          <p:cNvPr id="96" name="Shape 93"/>
          <p:cNvSpPr/>
          <p:nvPr/>
        </p:nvSpPr>
        <p:spPr>
          <a:xfrm>
            <a:off x="14311313" y="3933825"/>
            <a:ext cx="285750" cy="152400"/>
          </a:xfrm>
          <a:prstGeom prst="roundRect">
            <a:avLst>
              <a:gd name="adj" fmla="val 50000"/>
            </a:avLst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7" name="Text 94"/>
          <p:cNvSpPr/>
          <p:nvPr/>
        </p:nvSpPr>
        <p:spPr>
          <a:xfrm>
            <a:off x="12239625" y="4171950"/>
            <a:ext cx="10041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Gerente Operaciones</a:t>
            </a:r>
            <a:endParaRPr lang="en-US" sz="975" dirty="0"/>
          </a:p>
        </p:txBody>
      </p:sp>
      <p:sp>
        <p:nvSpPr>
          <p:cNvPr id="98" name="Shape 95"/>
          <p:cNvSpPr/>
          <p:nvPr/>
        </p:nvSpPr>
        <p:spPr>
          <a:xfrm>
            <a:off x="14311313" y="4181475"/>
            <a:ext cx="285750" cy="152400"/>
          </a:xfrm>
          <a:prstGeom prst="roundRect">
            <a:avLst>
              <a:gd name="adj" fmla="val 50000"/>
            </a:avLst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9" name="Text 96"/>
          <p:cNvSpPr/>
          <p:nvPr/>
        </p:nvSpPr>
        <p:spPr>
          <a:xfrm>
            <a:off x="12239625" y="4419600"/>
            <a:ext cx="6868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Duty Manager</a:t>
            </a:r>
            <a:endParaRPr lang="en-US" sz="975" dirty="0"/>
          </a:p>
        </p:txBody>
      </p:sp>
      <p:sp>
        <p:nvSpPr>
          <p:cNvPr id="100" name="Shape 97"/>
          <p:cNvSpPr/>
          <p:nvPr/>
        </p:nvSpPr>
        <p:spPr>
          <a:xfrm>
            <a:off x="14311313" y="4429125"/>
            <a:ext cx="285750" cy="152400"/>
          </a:xfrm>
          <a:prstGeom prst="roundRect">
            <a:avLst>
              <a:gd name="adj" fmla="val 50000"/>
            </a:avLst>
          </a:prstGeom>
          <a:solidFill>
            <a:srgbClr val="3A2D66">
              <a:alpha val="2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1" name="Text 98"/>
          <p:cNvSpPr/>
          <p:nvPr/>
        </p:nvSpPr>
        <p:spPr>
          <a:xfrm>
            <a:off x="14911388" y="3705225"/>
            <a:ext cx="259318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25" dirty="0">
                <a:solidFill>
                  <a:srgbClr val="3A2D66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PMM</a:t>
            </a:r>
            <a:endParaRPr lang="en-US" sz="825" dirty="0"/>
          </a:p>
        </p:txBody>
      </p:sp>
      <p:sp>
        <p:nvSpPr>
          <p:cNvPr id="102" name="Text 99"/>
          <p:cNvSpPr/>
          <p:nvPr/>
        </p:nvSpPr>
        <p:spPr>
          <a:xfrm>
            <a:off x="14911388" y="3924300"/>
            <a:ext cx="9731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Jefe de Rescate (CI)</a:t>
            </a:r>
            <a:endParaRPr lang="en-US" sz="975" dirty="0"/>
          </a:p>
        </p:txBody>
      </p:sp>
      <p:sp>
        <p:nvSpPr>
          <p:cNvPr id="103" name="Shape 100"/>
          <p:cNvSpPr/>
          <p:nvPr/>
        </p:nvSpPr>
        <p:spPr>
          <a:xfrm>
            <a:off x="16983075" y="3933825"/>
            <a:ext cx="285750" cy="152400"/>
          </a:xfrm>
          <a:prstGeom prst="roundRect">
            <a:avLst>
              <a:gd name="adj" fmla="val 50000"/>
            </a:avLst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4" name="Text 101"/>
          <p:cNvSpPr/>
          <p:nvPr/>
        </p:nvSpPr>
        <p:spPr>
          <a:xfrm>
            <a:off x="14911388" y="4171950"/>
            <a:ext cx="8758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Sup. Gral. Rescate</a:t>
            </a:r>
            <a:endParaRPr lang="en-US" sz="975" dirty="0"/>
          </a:p>
        </p:txBody>
      </p:sp>
      <p:sp>
        <p:nvSpPr>
          <p:cNvPr id="105" name="Shape 102"/>
          <p:cNvSpPr/>
          <p:nvPr/>
        </p:nvSpPr>
        <p:spPr>
          <a:xfrm>
            <a:off x="16983075" y="4181475"/>
            <a:ext cx="285750" cy="152400"/>
          </a:xfrm>
          <a:prstGeom prst="roundRect">
            <a:avLst>
              <a:gd name="adj" fmla="val 50000"/>
            </a:avLst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6" name="Text 103"/>
          <p:cNvSpPr/>
          <p:nvPr/>
        </p:nvSpPr>
        <p:spPr>
          <a:xfrm>
            <a:off x="14911388" y="4419600"/>
            <a:ext cx="9252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Rescate</a:t>
            </a:r>
            <a:endParaRPr lang="en-US" sz="975" dirty="0"/>
          </a:p>
        </p:txBody>
      </p:sp>
      <p:sp>
        <p:nvSpPr>
          <p:cNvPr id="107" name="Shape 104"/>
          <p:cNvSpPr/>
          <p:nvPr/>
        </p:nvSpPr>
        <p:spPr>
          <a:xfrm>
            <a:off x="16983075" y="4429125"/>
            <a:ext cx="285750" cy="152400"/>
          </a:xfrm>
          <a:prstGeom prst="roundRect">
            <a:avLst>
              <a:gd name="adj" fmla="val 50000"/>
            </a:avLst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8" name="Shape 105"/>
          <p:cNvSpPr/>
          <p:nvPr/>
        </p:nvSpPr>
        <p:spPr>
          <a:xfrm>
            <a:off x="12087225" y="4724400"/>
            <a:ext cx="5334000" cy="600075"/>
          </a:xfrm>
          <a:prstGeom prst="rect">
            <a:avLst/>
          </a:prstGeom>
          <a:solidFill>
            <a:srgbClr val="3A2D66">
              <a:alpha val="4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9" name="Shape 106"/>
          <p:cNvSpPr/>
          <p:nvPr/>
        </p:nvSpPr>
        <p:spPr>
          <a:xfrm>
            <a:off x="12087225" y="4724400"/>
            <a:ext cx="5334000" cy="9525"/>
          </a:xfrm>
          <a:prstGeom prst="rect">
            <a:avLst/>
          </a:prstGeom>
          <a:solidFill>
            <a:srgbClr val="3A2D66">
              <a:alpha val="1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0" name="Shape 107"/>
          <p:cNvSpPr/>
          <p:nvPr/>
        </p:nvSpPr>
        <p:spPr>
          <a:xfrm>
            <a:off x="12239625" y="4848225"/>
            <a:ext cx="1316831" cy="361950"/>
          </a:xfrm>
          <a:prstGeom prst="roundRect">
            <a:avLst>
              <a:gd name="adj" fmla="val 15789"/>
            </a:avLst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1" name="Text 108"/>
          <p:cNvSpPr/>
          <p:nvPr/>
        </p:nvSpPr>
        <p:spPr>
          <a:xfrm>
            <a:off x="12411075" y="4943475"/>
            <a:ext cx="97393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activación</a:t>
            </a:r>
            <a:endParaRPr lang="en-US" sz="975" dirty="0"/>
          </a:p>
        </p:txBody>
      </p:sp>
      <p:sp>
        <p:nvSpPr>
          <p:cNvPr id="112" name="Text 109"/>
          <p:cNvSpPr/>
          <p:nvPr/>
        </p:nvSpPr>
        <p:spPr>
          <a:xfrm>
            <a:off x="16520071" y="4957763"/>
            <a:ext cx="82495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A2D66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 auto: 08:41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840200" y="381000"/>
            <a:ext cx="533400" cy="533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85725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6D2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B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1295400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652"/>
              </a:lnSpc>
              <a:buNone/>
            </a:pPr>
            <a:r>
              <a:rPr lang="en-US" sz="4500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COE — Sala de Crisis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914400" y="2390775"/>
            <a:ext cx="400050" cy="295275"/>
          </a:xfrm>
          <a:prstGeom prst="roundRect">
            <a:avLst>
              <a:gd name="adj" fmla="val 16129"/>
            </a:avLst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1009650" y="2428875"/>
            <a:ext cx="24955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09700" y="2343150"/>
            <a:ext cx="325670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2D66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 4 cuadrantes</a:t>
            </a:r>
            <a:endParaRPr lang="en-US" sz="1875" dirty="0"/>
          </a:p>
        </p:txBody>
      </p:sp>
      <p:sp>
        <p:nvSpPr>
          <p:cNvPr id="8" name="Shape 5"/>
          <p:cNvSpPr/>
          <p:nvPr/>
        </p:nvSpPr>
        <p:spPr>
          <a:xfrm>
            <a:off x="914400" y="2819400"/>
            <a:ext cx="5353050" cy="2734270"/>
          </a:xfrm>
          <a:prstGeom prst="roundRect">
            <a:avLst>
              <a:gd name="adj" fmla="val 2787"/>
            </a:avLst>
          </a:prstGeom>
          <a:solidFill>
            <a:srgbClr val="FBFAF7"/>
          </a:solidFill>
          <a:ln w="9525">
            <a:solidFill>
              <a:srgbClr val="3A2D66">
                <a:alpha val="15000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6"/>
          <p:cNvSpPr/>
          <p:nvPr/>
        </p:nvSpPr>
        <p:spPr>
          <a:xfrm>
            <a:off x="923925" y="2828925"/>
            <a:ext cx="5334000" cy="419100"/>
          </a:xfrm>
          <a:prstGeom prst="rect">
            <a:avLst/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7"/>
          <p:cNvSpPr/>
          <p:nvPr/>
        </p:nvSpPr>
        <p:spPr>
          <a:xfrm>
            <a:off x="1076325" y="2947988"/>
            <a:ext cx="108465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 — Sala de Crisis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11427" y="2928938"/>
            <a:ext cx="974378" cy="219075"/>
          </a:xfrm>
          <a:prstGeom prst="roundRect">
            <a:avLst>
              <a:gd name="adj" fmla="val 50000"/>
            </a:avLst>
          </a:prstGeom>
          <a:solidFill>
            <a:srgbClr val="C0503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9"/>
          <p:cNvSpPr/>
          <p:nvPr/>
        </p:nvSpPr>
        <p:spPr>
          <a:xfrm>
            <a:off x="4606677" y="2957513"/>
            <a:ext cx="86007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III · 00:12:45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562005" y="2924175"/>
            <a:ext cx="543520" cy="228600"/>
          </a:xfrm>
          <a:prstGeom prst="roundRect">
            <a:avLst>
              <a:gd name="adj" fmla="val 25000"/>
            </a:avLst>
          </a:prstGeom>
          <a:ln w="9525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1"/>
          <p:cNvSpPr/>
          <p:nvPr/>
        </p:nvSpPr>
        <p:spPr>
          <a:xfrm>
            <a:off x="5666780" y="2962275"/>
            <a:ext cx="410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923925" y="3248025"/>
            <a:ext cx="5334000" cy="2296120"/>
          </a:xfrm>
          <a:prstGeom prst="rect">
            <a:avLst/>
          </a:prstGeom>
          <a:solidFill>
            <a:srgbClr val="3A2D66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Shape 13"/>
          <p:cNvSpPr/>
          <p:nvPr/>
        </p:nvSpPr>
        <p:spPr>
          <a:xfrm>
            <a:off x="923925" y="3248025"/>
            <a:ext cx="2662238" cy="1266825"/>
          </a:xfrm>
          <a:prstGeom prst="rect">
            <a:avLst/>
          </a:prstGeom>
          <a:solidFill>
            <a:srgbClr val="FBFAF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/>
          <p:nvPr/>
        </p:nvSpPr>
        <p:spPr>
          <a:xfrm>
            <a:off x="1057275" y="3381375"/>
            <a:ext cx="263509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A2D66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ALERTA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057275" y="3600450"/>
            <a:ext cx="263509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C3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III — General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57275" y="3810000"/>
            <a:ext cx="263509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A2D66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Advertencia de aeronave · activada 08:29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595688" y="3248025"/>
            <a:ext cx="2662238" cy="1266825"/>
          </a:xfrm>
          <a:prstGeom prst="rect">
            <a:avLst/>
          </a:prstGeom>
          <a:solidFill>
            <a:srgbClr val="FBFAF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8"/>
          <p:cNvSpPr/>
          <p:nvPr/>
        </p:nvSpPr>
        <p:spPr>
          <a:xfrm>
            <a:off x="3729038" y="3381375"/>
            <a:ext cx="263509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A2D66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825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rcRect t="28228" b="28228"/>
          <a:stretch/>
        </p:blipFill>
        <p:spPr>
          <a:xfrm>
            <a:off x="3729038" y="3600450"/>
            <a:ext cx="2395538" cy="60960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5166271" y="3813721"/>
            <a:ext cx="133350" cy="133350"/>
          </a:xfrm>
          <a:prstGeom prst="ellipse">
            <a:avLst/>
          </a:prstGeom>
          <a:solidFill>
            <a:srgbClr val="C0503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0"/>
          <p:cNvSpPr/>
          <p:nvPr/>
        </p:nvSpPr>
        <p:spPr>
          <a:xfrm>
            <a:off x="3729038" y="4248150"/>
            <a:ext cx="263509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A2D66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mapa completo →</a:t>
            </a:r>
            <a:endParaRPr lang="en-US" sz="825" dirty="0"/>
          </a:p>
        </p:txBody>
      </p:sp>
      <p:sp>
        <p:nvSpPr>
          <p:cNvPr id="25" name="Shape 21"/>
          <p:cNvSpPr/>
          <p:nvPr/>
        </p:nvSpPr>
        <p:spPr>
          <a:xfrm>
            <a:off x="923925" y="4524375"/>
            <a:ext cx="2662238" cy="1019770"/>
          </a:xfrm>
          <a:prstGeom prst="rect">
            <a:avLst/>
          </a:prstGeom>
          <a:solidFill>
            <a:srgbClr val="FBFAF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Text 22"/>
          <p:cNvSpPr/>
          <p:nvPr/>
        </p:nvSpPr>
        <p:spPr>
          <a:xfrm>
            <a:off x="1057275" y="4657725"/>
            <a:ext cx="263509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A2D66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CONVOCADOS</a:t>
            </a:r>
            <a:endParaRPr lang="en-US" sz="825" dirty="0"/>
          </a:p>
        </p:txBody>
      </p:sp>
      <p:sp>
        <p:nvSpPr>
          <p:cNvPr id="27" name="Text 23"/>
          <p:cNvSpPr/>
          <p:nvPr/>
        </p:nvSpPr>
        <p:spPr>
          <a:xfrm>
            <a:off x="1057275" y="4876800"/>
            <a:ext cx="27488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 </a:t>
            </a:r>
            <a:r>
              <a:rPr lang="en-US" sz="1125" b="1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3/3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389311" y="4876800"/>
            <a:ext cx="27488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PMM </a:t>
            </a:r>
            <a:r>
              <a:rPr lang="en-US" sz="1125" b="1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3/3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3595688" y="4524375"/>
            <a:ext cx="2662238" cy="1019770"/>
          </a:xfrm>
          <a:prstGeom prst="rect">
            <a:avLst/>
          </a:prstGeom>
          <a:solidFill>
            <a:srgbClr val="FBFAF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0" name="Text 26"/>
          <p:cNvSpPr/>
          <p:nvPr/>
        </p:nvSpPr>
        <p:spPr>
          <a:xfrm>
            <a:off x="3729038" y="4657725"/>
            <a:ext cx="263509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A2D66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DE TIEMPO</a:t>
            </a:r>
            <a:endParaRPr lang="en-US" sz="825" dirty="0"/>
          </a:p>
        </p:txBody>
      </p:sp>
      <p:sp>
        <p:nvSpPr>
          <p:cNvPr id="31" name="Text 27"/>
          <p:cNvSpPr/>
          <p:nvPr/>
        </p:nvSpPr>
        <p:spPr>
          <a:xfrm>
            <a:off x="3729038" y="4876800"/>
            <a:ext cx="2471738" cy="572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833"/>
              </a:lnSpc>
              <a:buNone/>
            </a:pPr>
            <a:r>
              <a:rPr lang="en-US" sz="825" dirty="0">
                <a:solidFill>
                  <a:srgbClr val="3A2D66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08:29 Alerta III activada 08:31 CI evaluación inicial 08:41 Relevo COE pendiente…</a:t>
            </a:r>
            <a:endParaRPr lang="en-US" sz="825" dirty="0"/>
          </a:p>
        </p:txBody>
      </p:sp>
      <p:sp>
        <p:nvSpPr>
          <p:cNvPr id="32" name="Shape 28"/>
          <p:cNvSpPr/>
          <p:nvPr/>
        </p:nvSpPr>
        <p:spPr>
          <a:xfrm>
            <a:off x="6496050" y="2390775"/>
            <a:ext cx="400050" cy="295275"/>
          </a:xfrm>
          <a:prstGeom prst="roundRect">
            <a:avLst>
              <a:gd name="adj" fmla="val 16129"/>
            </a:avLst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3" name="Text 29"/>
          <p:cNvSpPr/>
          <p:nvPr/>
        </p:nvSpPr>
        <p:spPr>
          <a:xfrm>
            <a:off x="6591300" y="2428875"/>
            <a:ext cx="24955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</a:t>
            </a:r>
            <a:endParaRPr lang="en-US" sz="1500" dirty="0"/>
          </a:p>
        </p:txBody>
      </p:sp>
      <p:sp>
        <p:nvSpPr>
          <p:cNvPr id="34" name="Text 30"/>
          <p:cNvSpPr/>
          <p:nvPr/>
        </p:nvSpPr>
        <p:spPr>
          <a:xfrm>
            <a:off x="6991350" y="2343150"/>
            <a:ext cx="263263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2D66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+ foco central</a:t>
            </a:r>
            <a:endParaRPr lang="en-US" sz="1875" dirty="0"/>
          </a:p>
        </p:txBody>
      </p:sp>
      <p:sp>
        <p:nvSpPr>
          <p:cNvPr id="35" name="Shape 31"/>
          <p:cNvSpPr/>
          <p:nvPr/>
        </p:nvSpPr>
        <p:spPr>
          <a:xfrm>
            <a:off x="6496050" y="2819400"/>
            <a:ext cx="5353050" cy="3000375"/>
          </a:xfrm>
          <a:prstGeom prst="roundRect">
            <a:avLst>
              <a:gd name="adj" fmla="val 2540"/>
            </a:avLst>
          </a:prstGeom>
          <a:solidFill>
            <a:srgbClr val="FBFAF7"/>
          </a:solidFill>
          <a:ln w="9525">
            <a:solidFill>
              <a:srgbClr val="3A2D66">
                <a:alpha val="15000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6" name="Shape 32"/>
          <p:cNvSpPr/>
          <p:nvPr/>
        </p:nvSpPr>
        <p:spPr>
          <a:xfrm>
            <a:off x="6505575" y="2828925"/>
            <a:ext cx="5334000" cy="314325"/>
          </a:xfrm>
          <a:prstGeom prst="rect">
            <a:avLst/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7" name="Text 33"/>
          <p:cNvSpPr/>
          <p:nvPr/>
        </p:nvSpPr>
        <p:spPr>
          <a:xfrm>
            <a:off x="6657975" y="2905125"/>
            <a:ext cx="8337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II · 00:04:10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10889903" y="2905125"/>
            <a:ext cx="8734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 3/3 · PMM 3/3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6505575" y="3143250"/>
            <a:ext cx="923925" cy="2667000"/>
          </a:xfrm>
          <a:prstGeom prst="rect">
            <a:avLst/>
          </a:prstGeom>
          <a:solidFill>
            <a:srgbClr val="F1EFE9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0" name="Shape 36"/>
          <p:cNvSpPr/>
          <p:nvPr/>
        </p:nvSpPr>
        <p:spPr>
          <a:xfrm>
            <a:off x="7419975" y="3143250"/>
            <a:ext cx="9525" cy="2667000"/>
          </a:xfrm>
          <a:prstGeom prst="rect">
            <a:avLst/>
          </a:prstGeom>
          <a:solidFill>
            <a:srgbClr val="3A2D66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1" name="Text 37"/>
          <p:cNvSpPr/>
          <p:nvPr/>
        </p:nvSpPr>
        <p:spPr>
          <a:xfrm>
            <a:off x="6619875" y="3314700"/>
            <a:ext cx="762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A2D66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</a:t>
            </a:r>
            <a:endParaRPr lang="en-US" sz="825" dirty="0"/>
          </a:p>
        </p:txBody>
      </p:sp>
      <p:sp>
        <p:nvSpPr>
          <p:cNvPr id="42" name="Shape 38"/>
          <p:cNvSpPr/>
          <p:nvPr/>
        </p:nvSpPr>
        <p:spPr>
          <a:xfrm>
            <a:off x="6505575" y="3543300"/>
            <a:ext cx="914400" cy="285750"/>
          </a:xfrm>
          <a:prstGeom prst="rect">
            <a:avLst/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3" name="Text 39"/>
          <p:cNvSpPr/>
          <p:nvPr/>
        </p:nvSpPr>
        <p:spPr>
          <a:xfrm>
            <a:off x="6619875" y="3619500"/>
            <a:ext cx="762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825" dirty="0"/>
          </a:p>
        </p:txBody>
      </p:sp>
      <p:sp>
        <p:nvSpPr>
          <p:cNvPr id="44" name="Text 40"/>
          <p:cNvSpPr/>
          <p:nvPr/>
        </p:nvSpPr>
        <p:spPr>
          <a:xfrm>
            <a:off x="6619875" y="3924300"/>
            <a:ext cx="762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A2D66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</a:t>
            </a:r>
            <a:endParaRPr lang="en-US" sz="825" dirty="0"/>
          </a:p>
        </p:txBody>
      </p:sp>
      <p:sp>
        <p:nvSpPr>
          <p:cNvPr id="45" name="Text 41"/>
          <p:cNvSpPr/>
          <p:nvPr/>
        </p:nvSpPr>
        <p:spPr>
          <a:xfrm>
            <a:off x="6619875" y="4229100"/>
            <a:ext cx="762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A2D66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Pre-PAI</a:t>
            </a:r>
            <a:endParaRPr lang="en-US" sz="825" dirty="0"/>
          </a:p>
        </p:txBody>
      </p:sp>
      <p:sp>
        <p:nvSpPr>
          <p:cNvPr id="46" name="Text 42"/>
          <p:cNvSpPr/>
          <p:nvPr/>
        </p:nvSpPr>
        <p:spPr>
          <a:xfrm>
            <a:off x="6619875" y="4533900"/>
            <a:ext cx="762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A2D66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Relevo</a:t>
            </a:r>
            <a:endParaRPr lang="en-US" sz="825" dirty="0"/>
          </a:p>
        </p:txBody>
      </p:sp>
      <p:sp>
        <p:nvSpPr>
          <p:cNvPr id="47" name="Text 43"/>
          <p:cNvSpPr/>
          <p:nvPr/>
        </p:nvSpPr>
        <p:spPr>
          <a:xfrm>
            <a:off x="6619875" y="4838700"/>
            <a:ext cx="762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A2D66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</a:t>
            </a:r>
            <a:endParaRPr lang="en-US" sz="825" dirty="0"/>
          </a:p>
        </p:txBody>
      </p:sp>
      <p:pic>
        <p:nvPicPr>
          <p:cNvPr id="48" name="Image 2" descr="preencoded.png"/>
          <p:cNvPicPr>
            <a:picLocks noChangeAspect="1"/>
          </p:cNvPicPr>
          <p:nvPr/>
        </p:nvPicPr>
        <p:blipFill>
          <a:blip r:embed="rId4"/>
          <a:srcRect l="16396" r="16396"/>
          <a:stretch/>
        </p:blipFill>
        <p:spPr>
          <a:xfrm>
            <a:off x="7429500" y="3143250"/>
            <a:ext cx="3067050" cy="2667000"/>
          </a:xfrm>
          <a:prstGeom prst="rect">
            <a:avLst/>
          </a:prstGeom>
        </p:spPr>
      </p:pic>
      <p:sp>
        <p:nvSpPr>
          <p:cNvPr id="49" name="Shape 44"/>
          <p:cNvSpPr/>
          <p:nvPr/>
        </p:nvSpPr>
        <p:spPr>
          <a:xfrm>
            <a:off x="8809583" y="4210050"/>
            <a:ext cx="152400" cy="152400"/>
          </a:xfrm>
          <a:prstGeom prst="ellipse">
            <a:avLst/>
          </a:prstGeom>
          <a:solidFill>
            <a:srgbClr val="A5721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0" name="Shape 45"/>
          <p:cNvSpPr/>
          <p:nvPr/>
        </p:nvSpPr>
        <p:spPr>
          <a:xfrm>
            <a:off x="7505700" y="5562600"/>
            <a:ext cx="770781" cy="1714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1" name="Text 46"/>
          <p:cNvSpPr/>
          <p:nvPr/>
        </p:nvSpPr>
        <p:spPr>
          <a:xfrm>
            <a:off x="7562850" y="5581650"/>
            <a:ext cx="73268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Cuadrícula F-14</a:t>
            </a:r>
            <a:endParaRPr lang="en-US" sz="750" dirty="0"/>
          </a:p>
        </p:txBody>
      </p:sp>
      <p:sp>
        <p:nvSpPr>
          <p:cNvPr id="52" name="Shape 47"/>
          <p:cNvSpPr/>
          <p:nvPr/>
        </p:nvSpPr>
        <p:spPr>
          <a:xfrm>
            <a:off x="10496550" y="3143250"/>
            <a:ext cx="9525" cy="2667000"/>
          </a:xfrm>
          <a:prstGeom prst="rect">
            <a:avLst/>
          </a:prstGeom>
          <a:solidFill>
            <a:srgbClr val="3A2D66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3" name="Text 48"/>
          <p:cNvSpPr/>
          <p:nvPr/>
        </p:nvSpPr>
        <p:spPr>
          <a:xfrm>
            <a:off x="10601325" y="3238500"/>
            <a:ext cx="12192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3A2D66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10601325" y="3438525"/>
            <a:ext cx="5656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455"/>
              </a:lnSpc>
              <a:buNone/>
            </a:pPr>
            <a:r>
              <a:rPr lang="en-US" sz="750" dirty="0">
                <a:solidFill>
                  <a:srgbClr val="3A2D66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08:04 Alerta II</a:t>
            </a:r>
            <a:endParaRPr lang="en-US" sz="750" dirty="0"/>
          </a:p>
        </p:txBody>
      </p:sp>
      <p:sp>
        <p:nvSpPr>
          <p:cNvPr id="55" name="Text 50"/>
          <p:cNvSpPr/>
          <p:nvPr/>
        </p:nvSpPr>
        <p:spPr>
          <a:xfrm>
            <a:off x="10601325" y="3590925"/>
            <a:ext cx="6668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455"/>
              </a:lnSpc>
              <a:buNone/>
            </a:pPr>
            <a:r>
              <a:rPr lang="en-US" sz="750" dirty="0">
                <a:solidFill>
                  <a:srgbClr val="3A2D66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08:06 R11 en ruta</a:t>
            </a:r>
            <a:endParaRPr lang="en-US" sz="750" dirty="0"/>
          </a:p>
        </p:txBody>
      </p:sp>
      <p:sp>
        <p:nvSpPr>
          <p:cNvPr id="56" name="Text 51"/>
          <p:cNvSpPr/>
          <p:nvPr/>
        </p:nvSpPr>
        <p:spPr>
          <a:xfrm>
            <a:off x="10601325" y="3743325"/>
            <a:ext cx="6860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455"/>
              </a:lnSpc>
              <a:buNone/>
            </a:pPr>
            <a:r>
              <a:rPr lang="en-US" sz="750" dirty="0">
                <a:solidFill>
                  <a:srgbClr val="3A2D66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08:09 CI en sitio…</a:t>
            </a:r>
            <a:endParaRPr lang="en-US" sz="750" dirty="0"/>
          </a:p>
        </p:txBody>
      </p:sp>
      <p:sp>
        <p:nvSpPr>
          <p:cNvPr id="57" name="Shape 52"/>
          <p:cNvSpPr/>
          <p:nvPr/>
        </p:nvSpPr>
        <p:spPr>
          <a:xfrm>
            <a:off x="12077700" y="2390775"/>
            <a:ext cx="400050" cy="295275"/>
          </a:xfrm>
          <a:prstGeom prst="roundRect">
            <a:avLst>
              <a:gd name="adj" fmla="val 16129"/>
            </a:avLst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8" name="Text 53"/>
          <p:cNvSpPr/>
          <p:nvPr/>
        </p:nvSpPr>
        <p:spPr>
          <a:xfrm>
            <a:off x="12172950" y="2428875"/>
            <a:ext cx="24955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1f</a:t>
            </a:r>
            <a:endParaRPr lang="en-US" sz="1500" dirty="0"/>
          </a:p>
        </p:txBody>
      </p:sp>
      <p:sp>
        <p:nvSpPr>
          <p:cNvPr id="59" name="Text 54"/>
          <p:cNvSpPr/>
          <p:nvPr/>
        </p:nvSpPr>
        <p:spPr>
          <a:xfrm>
            <a:off x="12573000" y="2343150"/>
            <a:ext cx="293664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2D66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Tabs superiores por capa</a:t>
            </a:r>
            <a:endParaRPr lang="en-US" sz="1875" dirty="0"/>
          </a:p>
        </p:txBody>
      </p:sp>
      <p:sp>
        <p:nvSpPr>
          <p:cNvPr id="60" name="Shape 55"/>
          <p:cNvSpPr/>
          <p:nvPr/>
        </p:nvSpPr>
        <p:spPr>
          <a:xfrm>
            <a:off x="12077700" y="2819400"/>
            <a:ext cx="5353050" cy="2162175"/>
          </a:xfrm>
          <a:prstGeom prst="roundRect">
            <a:avLst>
              <a:gd name="adj" fmla="val 3524"/>
            </a:avLst>
          </a:prstGeom>
          <a:solidFill>
            <a:srgbClr val="FBFAF7"/>
          </a:solidFill>
          <a:ln w="9525">
            <a:solidFill>
              <a:srgbClr val="3A2D66">
                <a:alpha val="15000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1" name="Shape 56"/>
          <p:cNvSpPr/>
          <p:nvPr/>
        </p:nvSpPr>
        <p:spPr>
          <a:xfrm>
            <a:off x="12087225" y="2828925"/>
            <a:ext cx="5334000" cy="371475"/>
          </a:xfrm>
          <a:prstGeom prst="rect">
            <a:avLst/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2" name="Text 57"/>
          <p:cNvSpPr/>
          <p:nvPr/>
        </p:nvSpPr>
        <p:spPr>
          <a:xfrm>
            <a:off x="12239625" y="2924175"/>
            <a:ext cx="518922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 — Sala de Crisis</a:t>
            </a:r>
            <a:endParaRPr lang="en-US" sz="1050" dirty="0"/>
          </a:p>
        </p:txBody>
      </p:sp>
      <p:sp>
        <p:nvSpPr>
          <p:cNvPr id="63" name="Shape 58"/>
          <p:cNvSpPr/>
          <p:nvPr/>
        </p:nvSpPr>
        <p:spPr>
          <a:xfrm>
            <a:off x="12087225" y="3562350"/>
            <a:ext cx="5334000" cy="9525"/>
          </a:xfrm>
          <a:prstGeom prst="rect">
            <a:avLst/>
          </a:prstGeom>
          <a:solidFill>
            <a:srgbClr val="3A2D66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4" name="Shape 59"/>
          <p:cNvSpPr/>
          <p:nvPr/>
        </p:nvSpPr>
        <p:spPr>
          <a:xfrm>
            <a:off x="12087225" y="3543300"/>
            <a:ext cx="834777" cy="19050"/>
          </a:xfrm>
          <a:prstGeom prst="rect">
            <a:avLst/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5" name="Text 60"/>
          <p:cNvSpPr/>
          <p:nvPr/>
        </p:nvSpPr>
        <p:spPr>
          <a:xfrm>
            <a:off x="12239625" y="3295650"/>
            <a:ext cx="60617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</a:t>
            </a:r>
            <a:endParaRPr lang="en-US" sz="975" dirty="0"/>
          </a:p>
        </p:txBody>
      </p:sp>
      <p:sp>
        <p:nvSpPr>
          <p:cNvPr id="66" name="Text 61"/>
          <p:cNvSpPr/>
          <p:nvPr/>
        </p:nvSpPr>
        <p:spPr>
          <a:xfrm>
            <a:off x="13074402" y="3295650"/>
            <a:ext cx="30003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A2D66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975" dirty="0"/>
          </a:p>
        </p:txBody>
      </p:sp>
      <p:sp>
        <p:nvSpPr>
          <p:cNvPr id="67" name="Text 62"/>
          <p:cNvSpPr/>
          <p:nvPr/>
        </p:nvSpPr>
        <p:spPr>
          <a:xfrm>
            <a:off x="13603039" y="3295650"/>
            <a:ext cx="4701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A2D66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</a:t>
            </a:r>
            <a:endParaRPr lang="en-US" sz="975" dirty="0"/>
          </a:p>
        </p:txBody>
      </p:sp>
      <p:sp>
        <p:nvSpPr>
          <p:cNvPr id="68" name="Text 63"/>
          <p:cNvSpPr/>
          <p:nvPr/>
        </p:nvSpPr>
        <p:spPr>
          <a:xfrm>
            <a:off x="14301788" y="3295650"/>
            <a:ext cx="78670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A2D66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Comunicaciones</a:t>
            </a:r>
            <a:endParaRPr lang="en-US" sz="975" dirty="0"/>
          </a:p>
        </p:txBody>
      </p:sp>
      <p:sp>
        <p:nvSpPr>
          <p:cNvPr id="69" name="Shape 64"/>
          <p:cNvSpPr/>
          <p:nvPr/>
        </p:nvSpPr>
        <p:spPr>
          <a:xfrm>
            <a:off x="12087225" y="3571875"/>
            <a:ext cx="5334000" cy="447675"/>
          </a:xfrm>
          <a:prstGeom prst="rect">
            <a:avLst/>
          </a:prstGeom>
          <a:solidFill>
            <a:srgbClr val="3A2D66">
              <a:alpha val="4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0" name="Shape 65"/>
          <p:cNvSpPr/>
          <p:nvPr/>
        </p:nvSpPr>
        <p:spPr>
          <a:xfrm>
            <a:off x="12087225" y="4010025"/>
            <a:ext cx="5334000" cy="9525"/>
          </a:xfrm>
          <a:prstGeom prst="rect">
            <a:avLst/>
          </a:prstGeom>
          <a:solidFill>
            <a:srgbClr val="3A2D66">
              <a:alpha val="1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1" name="Shape 66"/>
          <p:cNvSpPr/>
          <p:nvPr/>
        </p:nvSpPr>
        <p:spPr>
          <a:xfrm>
            <a:off x="12239625" y="3681413"/>
            <a:ext cx="530423" cy="219075"/>
          </a:xfrm>
          <a:prstGeom prst="roundRect">
            <a:avLst>
              <a:gd name="adj" fmla="val 50000"/>
            </a:avLst>
          </a:prstGeom>
          <a:solidFill>
            <a:srgbClr val="FAF0D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2" name="Text 67"/>
          <p:cNvSpPr/>
          <p:nvPr/>
        </p:nvSpPr>
        <p:spPr>
          <a:xfrm>
            <a:off x="12334875" y="3709988"/>
            <a:ext cx="41612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A57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II</a:t>
            </a:r>
            <a:endParaRPr lang="en-US" sz="900" dirty="0"/>
          </a:p>
        </p:txBody>
      </p:sp>
      <p:sp>
        <p:nvSpPr>
          <p:cNvPr id="73" name="Text 68"/>
          <p:cNvSpPr/>
          <p:nvPr/>
        </p:nvSpPr>
        <p:spPr>
          <a:xfrm>
            <a:off x="12865298" y="3709988"/>
            <a:ext cx="41850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00:04:10</a:t>
            </a:r>
            <a:endParaRPr lang="en-US" sz="900" dirty="0"/>
          </a:p>
        </p:txBody>
      </p:sp>
      <p:sp>
        <p:nvSpPr>
          <p:cNvPr id="74" name="Shape 69"/>
          <p:cNvSpPr/>
          <p:nvPr/>
        </p:nvSpPr>
        <p:spPr>
          <a:xfrm>
            <a:off x="15356681" y="3667125"/>
            <a:ext cx="1088827" cy="247650"/>
          </a:xfrm>
          <a:prstGeom prst="roundRect">
            <a:avLst>
              <a:gd name="adj" fmla="val 23077"/>
            </a:avLst>
          </a:prstGeom>
          <a:ln w="9525">
            <a:solidFill>
              <a:srgbClr val="3A2D6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5" name="Text 70"/>
          <p:cNvSpPr/>
          <p:nvPr/>
        </p:nvSpPr>
        <p:spPr>
          <a:xfrm>
            <a:off x="15461456" y="3714750"/>
            <a:ext cx="95547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Relevo de mando</a:t>
            </a:r>
            <a:endParaRPr lang="en-US" sz="900" dirty="0"/>
          </a:p>
        </p:txBody>
      </p:sp>
      <p:sp>
        <p:nvSpPr>
          <p:cNvPr id="76" name="Shape 71"/>
          <p:cNvSpPr/>
          <p:nvPr/>
        </p:nvSpPr>
        <p:spPr>
          <a:xfrm>
            <a:off x="16540758" y="3667125"/>
            <a:ext cx="728067" cy="247650"/>
          </a:xfrm>
          <a:prstGeom prst="roundRect">
            <a:avLst>
              <a:gd name="adj" fmla="val 23077"/>
            </a:avLst>
          </a:prstGeom>
          <a:ln w="9525">
            <a:solidFill>
              <a:srgbClr val="3A2D6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7" name="Text 72"/>
          <p:cNvSpPr/>
          <p:nvPr/>
        </p:nvSpPr>
        <p:spPr>
          <a:xfrm>
            <a:off x="16645533" y="3714750"/>
            <a:ext cx="59471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Desactivar</a:t>
            </a:r>
            <a:endParaRPr lang="en-US" sz="900" dirty="0"/>
          </a:p>
        </p:txBody>
      </p:sp>
      <p:sp>
        <p:nvSpPr>
          <p:cNvPr id="78" name="Shape 73"/>
          <p:cNvSpPr/>
          <p:nvPr/>
        </p:nvSpPr>
        <p:spPr>
          <a:xfrm>
            <a:off x="12087225" y="4019550"/>
            <a:ext cx="5334000" cy="952500"/>
          </a:xfrm>
          <a:prstGeom prst="rect">
            <a:avLst/>
          </a:prstGeom>
          <a:solidFill>
            <a:srgbClr val="3A2D66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9" name="Shape 74"/>
          <p:cNvSpPr/>
          <p:nvPr/>
        </p:nvSpPr>
        <p:spPr>
          <a:xfrm>
            <a:off x="12087225" y="4019550"/>
            <a:ext cx="1771650" cy="952500"/>
          </a:xfrm>
          <a:prstGeom prst="rect">
            <a:avLst/>
          </a:prstGeom>
          <a:solidFill>
            <a:srgbClr val="FBFAF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0" name="Text 75"/>
          <p:cNvSpPr/>
          <p:nvPr/>
        </p:nvSpPr>
        <p:spPr>
          <a:xfrm>
            <a:off x="12220575" y="4152900"/>
            <a:ext cx="16554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A2D66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INICIAL</a:t>
            </a:r>
            <a:endParaRPr lang="en-US" sz="825" dirty="0"/>
          </a:p>
        </p:txBody>
      </p:sp>
      <p:sp>
        <p:nvSpPr>
          <p:cNvPr id="81" name="Text 76"/>
          <p:cNvSpPr/>
          <p:nvPr/>
        </p:nvSpPr>
        <p:spPr>
          <a:xfrm>
            <a:off x="12220575" y="4352925"/>
            <a:ext cx="11842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Tipo: Advertencia aeronave</a:t>
            </a:r>
            <a:endParaRPr lang="en-US" sz="900" dirty="0"/>
          </a:p>
        </p:txBody>
      </p:sp>
      <p:sp>
        <p:nvSpPr>
          <p:cNvPr id="82" name="Text 77"/>
          <p:cNvSpPr/>
          <p:nvPr/>
        </p:nvSpPr>
        <p:spPr>
          <a:xfrm>
            <a:off x="12220575" y="4514850"/>
            <a:ext cx="7280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Magnitud: Media</a:t>
            </a:r>
            <a:endParaRPr lang="en-US" sz="900" dirty="0"/>
          </a:p>
        </p:txBody>
      </p:sp>
      <p:sp>
        <p:nvSpPr>
          <p:cNvPr id="83" name="Text 78"/>
          <p:cNvSpPr/>
          <p:nvPr/>
        </p:nvSpPr>
        <p:spPr>
          <a:xfrm>
            <a:off x="12220575" y="4676775"/>
            <a:ext cx="13022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Riesgos: derrame combustible</a:t>
            </a:r>
            <a:endParaRPr lang="en-US" sz="900" dirty="0"/>
          </a:p>
        </p:txBody>
      </p:sp>
      <p:sp>
        <p:nvSpPr>
          <p:cNvPr id="84" name="Shape 79"/>
          <p:cNvSpPr/>
          <p:nvPr/>
        </p:nvSpPr>
        <p:spPr>
          <a:xfrm>
            <a:off x="13868400" y="4019550"/>
            <a:ext cx="1771650" cy="952500"/>
          </a:xfrm>
          <a:prstGeom prst="rect">
            <a:avLst/>
          </a:prstGeom>
          <a:solidFill>
            <a:srgbClr val="FBFAF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5" name="Text 80"/>
          <p:cNvSpPr/>
          <p:nvPr/>
        </p:nvSpPr>
        <p:spPr>
          <a:xfrm>
            <a:off x="14001750" y="4152900"/>
            <a:ext cx="16554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A2D66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CONVOCATORIA</a:t>
            </a:r>
            <a:endParaRPr lang="en-US" sz="825" dirty="0"/>
          </a:p>
        </p:txBody>
      </p:sp>
      <p:sp>
        <p:nvSpPr>
          <p:cNvPr id="86" name="Text 81"/>
          <p:cNvSpPr/>
          <p:nvPr/>
        </p:nvSpPr>
        <p:spPr>
          <a:xfrm>
            <a:off x="14001750" y="4352925"/>
            <a:ext cx="5685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COE: 3/3 ✓</a:t>
            </a:r>
            <a:endParaRPr lang="en-US" sz="900" dirty="0"/>
          </a:p>
        </p:txBody>
      </p:sp>
      <p:sp>
        <p:nvSpPr>
          <p:cNvPr id="87" name="Text 82"/>
          <p:cNvSpPr/>
          <p:nvPr/>
        </p:nvSpPr>
        <p:spPr>
          <a:xfrm>
            <a:off x="14001750" y="4514850"/>
            <a:ext cx="5828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PMM: 3/3 ✓</a:t>
            </a:r>
            <a:endParaRPr lang="en-US" sz="900" dirty="0"/>
          </a:p>
        </p:txBody>
      </p:sp>
      <p:sp>
        <p:nvSpPr>
          <p:cNvPr id="88" name="Shape 83"/>
          <p:cNvSpPr/>
          <p:nvPr/>
        </p:nvSpPr>
        <p:spPr>
          <a:xfrm>
            <a:off x="15649575" y="4019550"/>
            <a:ext cx="1771650" cy="952500"/>
          </a:xfrm>
          <a:prstGeom prst="rect">
            <a:avLst/>
          </a:prstGeom>
          <a:solidFill>
            <a:srgbClr val="FBFAF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9" name="Text 84"/>
          <p:cNvSpPr/>
          <p:nvPr/>
        </p:nvSpPr>
        <p:spPr>
          <a:xfrm>
            <a:off x="15782925" y="4152900"/>
            <a:ext cx="16554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A2D66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ÚLTIMOS EVENTOS</a:t>
            </a:r>
            <a:endParaRPr lang="en-US" sz="825" dirty="0"/>
          </a:p>
        </p:txBody>
      </p:sp>
      <p:sp>
        <p:nvSpPr>
          <p:cNvPr id="90" name="Text 85"/>
          <p:cNvSpPr/>
          <p:nvPr/>
        </p:nvSpPr>
        <p:spPr>
          <a:xfrm>
            <a:off x="15782925" y="4352925"/>
            <a:ext cx="7361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08:04 activación</a:t>
            </a:r>
            <a:endParaRPr lang="en-US" sz="900" dirty="0"/>
          </a:p>
        </p:txBody>
      </p:sp>
      <p:sp>
        <p:nvSpPr>
          <p:cNvPr id="91" name="Text 86"/>
          <p:cNvSpPr/>
          <p:nvPr/>
        </p:nvSpPr>
        <p:spPr>
          <a:xfrm>
            <a:off x="15782925" y="4514850"/>
            <a:ext cx="8539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08:06 R11 despacho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840200" y="381000"/>
            <a:ext cx="533400" cy="533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85725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6D2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C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1295400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652"/>
              </a:lnSpc>
              <a:buNone/>
            </a:pPr>
            <a:r>
              <a:rPr lang="en-US" sz="4500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geoespacial — marcador de incidente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914400" y="2390775"/>
            <a:ext cx="400050" cy="295275"/>
          </a:xfrm>
          <a:prstGeom prst="roundRect">
            <a:avLst>
              <a:gd name="adj" fmla="val 16129"/>
            </a:avLst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1009650" y="2428875"/>
            <a:ext cx="24955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09700" y="2343150"/>
            <a:ext cx="410194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2D66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 completa + panel flotante</a:t>
            </a:r>
            <a:endParaRPr lang="en-US" sz="1875" dirty="0"/>
          </a:p>
        </p:txBody>
      </p:sp>
      <p:sp>
        <p:nvSpPr>
          <p:cNvPr id="8" name="Shape 5"/>
          <p:cNvSpPr/>
          <p:nvPr/>
        </p:nvSpPr>
        <p:spPr>
          <a:xfrm>
            <a:off x="914400" y="2819400"/>
            <a:ext cx="5353050" cy="2867025"/>
          </a:xfrm>
          <a:prstGeom prst="roundRect">
            <a:avLst>
              <a:gd name="adj" fmla="val 2658"/>
            </a:avLst>
          </a:prstGeom>
          <a:solidFill>
            <a:srgbClr val="FBFAF7"/>
          </a:solidFill>
          <a:ln w="9525">
            <a:solidFill>
              <a:srgbClr val="3A2D66">
                <a:alpha val="15000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6"/>
          <p:cNvSpPr/>
          <p:nvPr/>
        </p:nvSpPr>
        <p:spPr>
          <a:xfrm>
            <a:off x="923925" y="2828925"/>
            <a:ext cx="5334000" cy="361950"/>
          </a:xfrm>
          <a:prstGeom prst="rect">
            <a:avLst/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Shape 7"/>
          <p:cNvSpPr/>
          <p:nvPr/>
        </p:nvSpPr>
        <p:spPr>
          <a:xfrm>
            <a:off x="1076325" y="2905125"/>
            <a:ext cx="1062038" cy="20955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1171575" y="2933700"/>
            <a:ext cx="947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Marcar incidente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588943" y="2933700"/>
            <a:ext cx="59278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Zoom +</a:t>
            </a:r>
            <a:endParaRPr lang="en-US" sz="9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t="14861" b="14861"/>
          <a:stretch/>
        </p:blipFill>
        <p:spPr>
          <a:xfrm>
            <a:off x="923925" y="3190875"/>
            <a:ext cx="5334000" cy="219075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017615" y="4154686"/>
            <a:ext cx="171450" cy="171450"/>
          </a:xfrm>
          <a:prstGeom prst="ellipse">
            <a:avLst/>
          </a:prstGeom>
          <a:solidFill>
            <a:srgbClr val="C0503F"/>
          </a:solidFill>
          <a:ln w="19050">
            <a:solidFill>
              <a:srgbClr val="FFFFFF"/>
            </a:solidFill>
            <a:prstDash val="solid"/>
          </a:ln>
          <a:effectLst>
            <a:outerShdw blurRad="101600" dist="50800" dir="16200000" algn="bl" rotWithShape="0">
              <a:srgbClr val="C0503F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Shape 11"/>
          <p:cNvSpPr/>
          <p:nvPr/>
        </p:nvSpPr>
        <p:spPr>
          <a:xfrm>
            <a:off x="4105275" y="4448175"/>
            <a:ext cx="2019300" cy="800100"/>
          </a:xfrm>
          <a:prstGeom prst="roundRect">
            <a:avLst>
              <a:gd name="adj" fmla="val 7143"/>
            </a:avLst>
          </a:prstGeom>
          <a:solidFill>
            <a:srgbClr val="FBFAF7"/>
          </a:solidFill>
          <a:ln w="9525">
            <a:solidFill>
              <a:srgbClr val="3A2D66">
                <a:alpha val="15000"/>
              </a:srgbClr>
            </a:solidFill>
            <a:prstDash val="solid"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6" name="Text 12"/>
          <p:cNvSpPr/>
          <p:nvPr/>
        </p:nvSpPr>
        <p:spPr>
          <a:xfrm>
            <a:off x="4210050" y="4552950"/>
            <a:ext cx="19907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marcado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210050" y="4724400"/>
            <a:ext cx="19907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A2D66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Cuadrícula: F-14 · PEA 21</a:t>
            </a:r>
            <a:endParaRPr lang="en-US" sz="825" dirty="0"/>
          </a:p>
        </p:txBody>
      </p:sp>
      <p:sp>
        <p:nvSpPr>
          <p:cNvPr id="18" name="Shape 14"/>
          <p:cNvSpPr/>
          <p:nvPr/>
        </p:nvSpPr>
        <p:spPr>
          <a:xfrm>
            <a:off x="4210050" y="4895850"/>
            <a:ext cx="1809750" cy="247650"/>
          </a:xfrm>
          <a:prstGeom prst="roundRect">
            <a:avLst>
              <a:gd name="adj" fmla="val 15385"/>
            </a:avLst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Text 15"/>
          <p:cNvSpPr/>
          <p:nvPr/>
        </p:nvSpPr>
        <p:spPr>
          <a:xfrm>
            <a:off x="4229100" y="4953000"/>
            <a:ext cx="17716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ubicación</a:t>
            </a:r>
            <a:endParaRPr lang="en-US" sz="825" dirty="0"/>
          </a:p>
        </p:txBody>
      </p:sp>
      <p:sp>
        <p:nvSpPr>
          <p:cNvPr id="20" name="Shape 16"/>
          <p:cNvSpPr/>
          <p:nvPr/>
        </p:nvSpPr>
        <p:spPr>
          <a:xfrm>
            <a:off x="1019175" y="3286125"/>
            <a:ext cx="2510582" cy="209550"/>
          </a:xfrm>
          <a:prstGeom prst="roundRect">
            <a:avLst>
              <a:gd name="adj" fmla="val 18182"/>
            </a:avLst>
          </a:prstGeom>
          <a:solidFill>
            <a:srgbClr val="3A2D66">
              <a:alpha val="8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7"/>
          <p:cNvSpPr/>
          <p:nvPr/>
        </p:nvSpPr>
        <p:spPr>
          <a:xfrm>
            <a:off x="1095375" y="3324225"/>
            <a:ext cx="243438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SEÑAL — guardado local, sincroniza al reconectar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923925" y="5381625"/>
            <a:ext cx="5334000" cy="9525"/>
          </a:xfrm>
          <a:prstGeom prst="rect">
            <a:avLst/>
          </a:prstGeom>
          <a:solidFill>
            <a:srgbClr val="3A2D66">
              <a:alpha val="1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3" name="Text 19"/>
          <p:cNvSpPr/>
          <p:nvPr/>
        </p:nvSpPr>
        <p:spPr>
          <a:xfrm>
            <a:off x="1076325" y="5467350"/>
            <a:ext cx="51892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A2D66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v1: solo marcador manual — posición en vivo de unidades queda para fase 2 · mapa base: © OpenStreetMap contributors</a:t>
            </a:r>
            <a:endParaRPr lang="en-US" sz="825" dirty="0"/>
          </a:p>
        </p:txBody>
      </p:sp>
      <p:sp>
        <p:nvSpPr>
          <p:cNvPr id="24" name="Shape 20"/>
          <p:cNvSpPr/>
          <p:nvPr/>
        </p:nvSpPr>
        <p:spPr>
          <a:xfrm>
            <a:off x="6496050" y="2390775"/>
            <a:ext cx="400050" cy="295275"/>
          </a:xfrm>
          <a:prstGeom prst="roundRect">
            <a:avLst>
              <a:gd name="adj" fmla="val 16129"/>
            </a:avLst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5" name="Text 21"/>
          <p:cNvSpPr/>
          <p:nvPr/>
        </p:nvSpPr>
        <p:spPr>
          <a:xfrm>
            <a:off x="6591300" y="2428875"/>
            <a:ext cx="24955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1h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991350" y="2343150"/>
            <a:ext cx="299705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2D66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+ lista de unidades</a:t>
            </a:r>
            <a:endParaRPr lang="en-US" sz="1875" dirty="0"/>
          </a:p>
        </p:txBody>
      </p:sp>
      <p:sp>
        <p:nvSpPr>
          <p:cNvPr id="27" name="Shape 23"/>
          <p:cNvSpPr/>
          <p:nvPr/>
        </p:nvSpPr>
        <p:spPr>
          <a:xfrm>
            <a:off x="6496050" y="2819400"/>
            <a:ext cx="5353050" cy="2771775"/>
          </a:xfrm>
          <a:prstGeom prst="roundRect">
            <a:avLst>
              <a:gd name="adj" fmla="val 2749"/>
            </a:avLst>
          </a:prstGeom>
          <a:solidFill>
            <a:srgbClr val="FBFAF7"/>
          </a:solidFill>
          <a:ln w="9525">
            <a:solidFill>
              <a:srgbClr val="3A2D66">
                <a:alpha val="15000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8" name="Shape 24"/>
          <p:cNvSpPr/>
          <p:nvPr/>
        </p:nvSpPr>
        <p:spPr>
          <a:xfrm>
            <a:off x="6505575" y="2828925"/>
            <a:ext cx="5334000" cy="371475"/>
          </a:xfrm>
          <a:prstGeom prst="rect">
            <a:avLst/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9" name="Text 25"/>
          <p:cNvSpPr/>
          <p:nvPr/>
        </p:nvSpPr>
        <p:spPr>
          <a:xfrm>
            <a:off x="6657975" y="2924175"/>
            <a:ext cx="518922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geoespacial — AIJC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9744075" y="3200400"/>
            <a:ext cx="9525" cy="2381250"/>
          </a:xfrm>
          <a:prstGeom prst="rect">
            <a:avLst/>
          </a:prstGeom>
          <a:solidFill>
            <a:srgbClr val="3A2D66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4"/>
          <a:srcRect l="10143" r="10143"/>
          <a:stretch/>
        </p:blipFill>
        <p:spPr>
          <a:xfrm>
            <a:off x="6505575" y="3200400"/>
            <a:ext cx="3248025" cy="2381250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8124825" y="4152900"/>
            <a:ext cx="171450" cy="171450"/>
          </a:xfrm>
          <a:prstGeom prst="ellipse">
            <a:avLst/>
          </a:prstGeom>
          <a:solidFill>
            <a:srgbClr val="C0503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Shape 28"/>
          <p:cNvSpPr/>
          <p:nvPr/>
        </p:nvSpPr>
        <p:spPr>
          <a:xfrm>
            <a:off x="6581775" y="5334000"/>
            <a:ext cx="301675" cy="1714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4" name="Text 29"/>
          <p:cNvSpPr/>
          <p:nvPr/>
        </p:nvSpPr>
        <p:spPr>
          <a:xfrm>
            <a:off x="6638925" y="5353050"/>
            <a:ext cx="2635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F-14</a:t>
            </a:r>
            <a:endParaRPr lang="en-US" sz="750" dirty="0"/>
          </a:p>
        </p:txBody>
      </p:sp>
      <p:sp>
        <p:nvSpPr>
          <p:cNvPr id="35" name="Shape 30"/>
          <p:cNvSpPr/>
          <p:nvPr/>
        </p:nvSpPr>
        <p:spPr>
          <a:xfrm>
            <a:off x="9003804" y="3276600"/>
            <a:ext cx="664071" cy="200025"/>
          </a:xfrm>
          <a:prstGeom prst="roundRect">
            <a:avLst>
              <a:gd name="adj" fmla="val 50000"/>
            </a:avLst>
          </a:prstGeom>
          <a:solidFill>
            <a:srgbClr val="FBFAF7">
              <a:alpha val="95000"/>
            </a:srgbClr>
          </a:solidFill>
          <a:ln/>
          <a:effectLst>
            <a:outerShdw blurRad="28575" dist="9525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6" name="Text 31"/>
          <p:cNvSpPr/>
          <p:nvPr/>
        </p:nvSpPr>
        <p:spPr>
          <a:xfrm>
            <a:off x="9099054" y="3305175"/>
            <a:ext cx="5497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Zoom +</a:t>
            </a:r>
            <a:endParaRPr lang="en-US" sz="825" dirty="0"/>
          </a:p>
        </p:txBody>
      </p:sp>
      <p:sp>
        <p:nvSpPr>
          <p:cNvPr id="37" name="Text 32"/>
          <p:cNvSpPr/>
          <p:nvPr/>
        </p:nvSpPr>
        <p:spPr>
          <a:xfrm>
            <a:off x="9867900" y="3295650"/>
            <a:ext cx="204311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3A2D66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 SSEI</a:t>
            </a:r>
            <a:endParaRPr lang="en-US" sz="750" dirty="0"/>
          </a:p>
        </p:txBody>
      </p:sp>
      <p:sp>
        <p:nvSpPr>
          <p:cNvPr id="38" name="Text 33"/>
          <p:cNvSpPr/>
          <p:nvPr/>
        </p:nvSpPr>
        <p:spPr>
          <a:xfrm>
            <a:off x="9867900" y="3486150"/>
            <a:ext cx="1619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825" dirty="0"/>
          </a:p>
        </p:txBody>
      </p:sp>
      <p:sp>
        <p:nvSpPr>
          <p:cNvPr id="39" name="Shape 34"/>
          <p:cNvSpPr/>
          <p:nvPr/>
        </p:nvSpPr>
        <p:spPr>
          <a:xfrm>
            <a:off x="11518404" y="3486150"/>
            <a:ext cx="206871" cy="133350"/>
          </a:xfrm>
          <a:prstGeom prst="roundRect">
            <a:avLst>
              <a:gd name="adj" fmla="val 50000"/>
            </a:avLst>
          </a:prstGeom>
          <a:solidFill>
            <a:srgbClr val="E7F2E9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0" name="Text 35"/>
          <p:cNvSpPr/>
          <p:nvPr/>
        </p:nvSpPr>
        <p:spPr>
          <a:xfrm>
            <a:off x="11575554" y="3495675"/>
            <a:ext cx="11325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3D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75" dirty="0"/>
          </a:p>
        </p:txBody>
      </p:sp>
      <p:sp>
        <p:nvSpPr>
          <p:cNvPr id="41" name="Text 36"/>
          <p:cNvSpPr/>
          <p:nvPr/>
        </p:nvSpPr>
        <p:spPr>
          <a:xfrm>
            <a:off x="9867900" y="3667125"/>
            <a:ext cx="17293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endParaRPr lang="en-US" sz="825" dirty="0"/>
          </a:p>
        </p:txBody>
      </p:sp>
      <p:sp>
        <p:nvSpPr>
          <p:cNvPr id="42" name="Shape 37"/>
          <p:cNvSpPr/>
          <p:nvPr/>
        </p:nvSpPr>
        <p:spPr>
          <a:xfrm>
            <a:off x="11518404" y="3667125"/>
            <a:ext cx="206871" cy="133350"/>
          </a:xfrm>
          <a:prstGeom prst="roundRect">
            <a:avLst>
              <a:gd name="adj" fmla="val 50000"/>
            </a:avLst>
          </a:prstGeom>
          <a:solidFill>
            <a:srgbClr val="E7F2E9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3" name="Text 38"/>
          <p:cNvSpPr/>
          <p:nvPr/>
        </p:nvSpPr>
        <p:spPr>
          <a:xfrm>
            <a:off x="11575554" y="3676650"/>
            <a:ext cx="11325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3D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75" dirty="0"/>
          </a:p>
        </p:txBody>
      </p:sp>
      <p:sp>
        <p:nvSpPr>
          <p:cNvPr id="44" name="Text 39"/>
          <p:cNvSpPr/>
          <p:nvPr/>
        </p:nvSpPr>
        <p:spPr>
          <a:xfrm>
            <a:off x="9867900" y="3848100"/>
            <a:ext cx="16921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R8</a:t>
            </a:r>
            <a:endParaRPr lang="en-US" sz="825" dirty="0"/>
          </a:p>
        </p:txBody>
      </p:sp>
      <p:sp>
        <p:nvSpPr>
          <p:cNvPr id="45" name="Shape 40"/>
          <p:cNvSpPr/>
          <p:nvPr/>
        </p:nvSpPr>
        <p:spPr>
          <a:xfrm>
            <a:off x="11502777" y="3848100"/>
            <a:ext cx="222498" cy="133350"/>
          </a:xfrm>
          <a:prstGeom prst="roundRect">
            <a:avLst>
              <a:gd name="adj" fmla="val 50000"/>
            </a:avLst>
          </a:prstGeom>
          <a:solidFill>
            <a:srgbClr val="ECEAE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6" name="Text 41"/>
          <p:cNvSpPr/>
          <p:nvPr/>
        </p:nvSpPr>
        <p:spPr>
          <a:xfrm>
            <a:off x="11559927" y="3857625"/>
            <a:ext cx="13044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F.S.</a:t>
            </a:r>
            <a:endParaRPr lang="en-US" sz="675" dirty="0"/>
          </a:p>
        </p:txBody>
      </p:sp>
      <p:sp>
        <p:nvSpPr>
          <p:cNvPr id="47" name="Text 42"/>
          <p:cNvSpPr/>
          <p:nvPr/>
        </p:nvSpPr>
        <p:spPr>
          <a:xfrm>
            <a:off x="9867900" y="4029075"/>
            <a:ext cx="16222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R9</a:t>
            </a:r>
            <a:endParaRPr lang="en-US" sz="825" dirty="0"/>
          </a:p>
        </p:txBody>
      </p:sp>
      <p:sp>
        <p:nvSpPr>
          <p:cNvPr id="48" name="Shape 43"/>
          <p:cNvSpPr/>
          <p:nvPr/>
        </p:nvSpPr>
        <p:spPr>
          <a:xfrm>
            <a:off x="11518404" y="4029075"/>
            <a:ext cx="206871" cy="133350"/>
          </a:xfrm>
          <a:prstGeom prst="roundRect">
            <a:avLst>
              <a:gd name="adj" fmla="val 50000"/>
            </a:avLst>
          </a:prstGeom>
          <a:solidFill>
            <a:srgbClr val="E7F2E9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9" name="Text 44"/>
          <p:cNvSpPr/>
          <p:nvPr/>
        </p:nvSpPr>
        <p:spPr>
          <a:xfrm>
            <a:off x="11575554" y="4038600"/>
            <a:ext cx="11325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3D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75" dirty="0"/>
          </a:p>
        </p:txBody>
      </p:sp>
      <p:sp>
        <p:nvSpPr>
          <p:cNvPr id="50" name="Text 45"/>
          <p:cNvSpPr/>
          <p:nvPr/>
        </p:nvSpPr>
        <p:spPr>
          <a:xfrm>
            <a:off x="9867900" y="4210050"/>
            <a:ext cx="19987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R11</a:t>
            </a:r>
            <a:endParaRPr lang="en-US" sz="825" dirty="0"/>
          </a:p>
        </p:txBody>
      </p:sp>
      <p:sp>
        <p:nvSpPr>
          <p:cNvPr id="51" name="Shape 46"/>
          <p:cNvSpPr/>
          <p:nvPr/>
        </p:nvSpPr>
        <p:spPr>
          <a:xfrm>
            <a:off x="11486704" y="4210050"/>
            <a:ext cx="238571" cy="133350"/>
          </a:xfrm>
          <a:prstGeom prst="roundRect">
            <a:avLst>
              <a:gd name="adj" fmla="val 50000"/>
            </a:avLst>
          </a:prstGeom>
          <a:solidFill>
            <a:srgbClr val="FAF0D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2" name="Text 47"/>
          <p:cNvSpPr/>
          <p:nvPr/>
        </p:nvSpPr>
        <p:spPr>
          <a:xfrm>
            <a:off x="11543854" y="4219575"/>
            <a:ext cx="14812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A57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N.A.</a:t>
            </a:r>
            <a:endParaRPr lang="en-US" sz="675" dirty="0"/>
          </a:p>
        </p:txBody>
      </p:sp>
      <p:sp>
        <p:nvSpPr>
          <p:cNvPr id="53" name="Text 48"/>
          <p:cNvSpPr/>
          <p:nvPr/>
        </p:nvSpPr>
        <p:spPr>
          <a:xfrm>
            <a:off x="9867900" y="4391025"/>
            <a:ext cx="21088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R12</a:t>
            </a:r>
            <a:endParaRPr lang="en-US" sz="825" dirty="0"/>
          </a:p>
        </p:txBody>
      </p:sp>
      <p:sp>
        <p:nvSpPr>
          <p:cNvPr id="54" name="Shape 49"/>
          <p:cNvSpPr/>
          <p:nvPr/>
        </p:nvSpPr>
        <p:spPr>
          <a:xfrm>
            <a:off x="11518404" y="4391025"/>
            <a:ext cx="206871" cy="133350"/>
          </a:xfrm>
          <a:prstGeom prst="roundRect">
            <a:avLst>
              <a:gd name="adj" fmla="val 50000"/>
            </a:avLst>
          </a:prstGeom>
          <a:solidFill>
            <a:srgbClr val="E7F2E9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5" name="Text 50"/>
          <p:cNvSpPr/>
          <p:nvPr/>
        </p:nvSpPr>
        <p:spPr>
          <a:xfrm>
            <a:off x="11575554" y="4400550"/>
            <a:ext cx="11325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3D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75" dirty="0"/>
          </a:p>
        </p:txBody>
      </p:sp>
      <p:sp>
        <p:nvSpPr>
          <p:cNvPr id="56" name="Text 51"/>
          <p:cNvSpPr/>
          <p:nvPr/>
        </p:nvSpPr>
        <p:spPr>
          <a:xfrm>
            <a:off x="9867900" y="4572000"/>
            <a:ext cx="20880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R13</a:t>
            </a:r>
            <a:endParaRPr lang="en-US" sz="825" dirty="0"/>
          </a:p>
        </p:txBody>
      </p:sp>
      <p:sp>
        <p:nvSpPr>
          <p:cNvPr id="57" name="Shape 52"/>
          <p:cNvSpPr/>
          <p:nvPr/>
        </p:nvSpPr>
        <p:spPr>
          <a:xfrm>
            <a:off x="11518404" y="4572000"/>
            <a:ext cx="206871" cy="133350"/>
          </a:xfrm>
          <a:prstGeom prst="roundRect">
            <a:avLst>
              <a:gd name="adj" fmla="val 50000"/>
            </a:avLst>
          </a:prstGeom>
          <a:solidFill>
            <a:srgbClr val="E7F2E9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8" name="Text 53"/>
          <p:cNvSpPr/>
          <p:nvPr/>
        </p:nvSpPr>
        <p:spPr>
          <a:xfrm>
            <a:off x="11575554" y="4581525"/>
            <a:ext cx="11325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3D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75" dirty="0"/>
          </a:p>
        </p:txBody>
      </p:sp>
      <p:sp>
        <p:nvSpPr>
          <p:cNvPr id="59" name="Text 54"/>
          <p:cNvSpPr/>
          <p:nvPr/>
        </p:nvSpPr>
        <p:spPr>
          <a:xfrm>
            <a:off x="9867900" y="4752975"/>
            <a:ext cx="2196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CR9</a:t>
            </a:r>
            <a:endParaRPr lang="en-US" sz="825" dirty="0"/>
          </a:p>
        </p:txBody>
      </p:sp>
      <p:sp>
        <p:nvSpPr>
          <p:cNvPr id="60" name="Shape 55"/>
          <p:cNvSpPr/>
          <p:nvPr/>
        </p:nvSpPr>
        <p:spPr>
          <a:xfrm>
            <a:off x="11518404" y="4752975"/>
            <a:ext cx="206871" cy="133350"/>
          </a:xfrm>
          <a:prstGeom prst="roundRect">
            <a:avLst>
              <a:gd name="adj" fmla="val 50000"/>
            </a:avLst>
          </a:prstGeom>
          <a:solidFill>
            <a:srgbClr val="E7F2E9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1" name="Text 56"/>
          <p:cNvSpPr/>
          <p:nvPr/>
        </p:nvSpPr>
        <p:spPr>
          <a:xfrm>
            <a:off x="11575554" y="4762500"/>
            <a:ext cx="11325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3D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75" dirty="0"/>
          </a:p>
        </p:txBody>
      </p:sp>
      <p:sp>
        <p:nvSpPr>
          <p:cNvPr id="62" name="Text 57"/>
          <p:cNvSpPr/>
          <p:nvPr/>
        </p:nvSpPr>
        <p:spPr>
          <a:xfrm>
            <a:off x="9867900" y="4962525"/>
            <a:ext cx="204311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3A2D66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posición no en vivo (v1)</a:t>
            </a:r>
            <a:endParaRPr lang="en-US" sz="675" dirty="0"/>
          </a:p>
        </p:txBody>
      </p:sp>
      <p:sp>
        <p:nvSpPr>
          <p:cNvPr id="63" name="Shape 58"/>
          <p:cNvSpPr/>
          <p:nvPr/>
        </p:nvSpPr>
        <p:spPr>
          <a:xfrm>
            <a:off x="12077700" y="2390775"/>
            <a:ext cx="400050" cy="295275"/>
          </a:xfrm>
          <a:prstGeom prst="roundRect">
            <a:avLst>
              <a:gd name="adj" fmla="val 16129"/>
            </a:avLst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4" name="Text 59"/>
          <p:cNvSpPr/>
          <p:nvPr/>
        </p:nvSpPr>
        <p:spPr>
          <a:xfrm>
            <a:off x="12172950" y="2428875"/>
            <a:ext cx="24955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1i</a:t>
            </a:r>
            <a:endParaRPr lang="en-US" sz="1500" dirty="0"/>
          </a:p>
        </p:txBody>
      </p:sp>
      <p:sp>
        <p:nvSpPr>
          <p:cNvPr id="65" name="Text 60"/>
          <p:cNvSpPr/>
          <p:nvPr/>
        </p:nvSpPr>
        <p:spPr>
          <a:xfrm>
            <a:off x="12573000" y="2343150"/>
            <a:ext cx="314979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2D66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con capas activables</a:t>
            </a:r>
            <a:endParaRPr lang="en-US" sz="1875" dirty="0"/>
          </a:p>
        </p:txBody>
      </p:sp>
      <p:sp>
        <p:nvSpPr>
          <p:cNvPr id="66" name="Shape 61"/>
          <p:cNvSpPr/>
          <p:nvPr/>
        </p:nvSpPr>
        <p:spPr>
          <a:xfrm>
            <a:off x="12077700" y="2819400"/>
            <a:ext cx="5353050" cy="2733675"/>
          </a:xfrm>
          <a:prstGeom prst="roundRect">
            <a:avLst>
              <a:gd name="adj" fmla="val 2787"/>
            </a:avLst>
          </a:prstGeom>
          <a:solidFill>
            <a:srgbClr val="FBFAF7"/>
          </a:solidFill>
          <a:ln w="9525">
            <a:solidFill>
              <a:srgbClr val="3A2D66">
                <a:alpha val="15000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7" name="Shape 62"/>
          <p:cNvSpPr/>
          <p:nvPr/>
        </p:nvSpPr>
        <p:spPr>
          <a:xfrm>
            <a:off x="12087225" y="2828925"/>
            <a:ext cx="5334000" cy="371475"/>
          </a:xfrm>
          <a:prstGeom prst="rect">
            <a:avLst/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8" name="Text 63"/>
          <p:cNvSpPr/>
          <p:nvPr/>
        </p:nvSpPr>
        <p:spPr>
          <a:xfrm>
            <a:off x="12239625" y="2924175"/>
            <a:ext cx="518922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geoespacial — capas</a:t>
            </a:r>
            <a:endParaRPr lang="en-US" sz="1050" dirty="0"/>
          </a:p>
        </p:txBody>
      </p:sp>
      <p:sp>
        <p:nvSpPr>
          <p:cNvPr id="69" name="Shape 64"/>
          <p:cNvSpPr/>
          <p:nvPr/>
        </p:nvSpPr>
        <p:spPr>
          <a:xfrm>
            <a:off x="12087225" y="3629025"/>
            <a:ext cx="5334000" cy="9525"/>
          </a:xfrm>
          <a:prstGeom prst="rect">
            <a:avLst/>
          </a:prstGeom>
          <a:solidFill>
            <a:srgbClr val="3A2D66">
              <a:alpha val="1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0" name="Shape 65"/>
          <p:cNvSpPr/>
          <p:nvPr/>
        </p:nvSpPr>
        <p:spPr>
          <a:xfrm>
            <a:off x="12239625" y="3295650"/>
            <a:ext cx="785068" cy="238125"/>
          </a:xfrm>
          <a:prstGeom prst="roundRect">
            <a:avLst>
              <a:gd name="adj" fmla="val 48000"/>
            </a:avLst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1" name="Text 66"/>
          <p:cNvSpPr/>
          <p:nvPr/>
        </p:nvSpPr>
        <p:spPr>
          <a:xfrm>
            <a:off x="12334875" y="3333750"/>
            <a:ext cx="67076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Cuadrícula ✓</a:t>
            </a:r>
            <a:endParaRPr lang="en-US" sz="825" dirty="0"/>
          </a:p>
        </p:txBody>
      </p:sp>
      <p:sp>
        <p:nvSpPr>
          <p:cNvPr id="72" name="Shape 67"/>
          <p:cNvSpPr/>
          <p:nvPr/>
        </p:nvSpPr>
        <p:spPr>
          <a:xfrm>
            <a:off x="13081843" y="3295650"/>
            <a:ext cx="724793" cy="238125"/>
          </a:xfrm>
          <a:prstGeom prst="roundRect">
            <a:avLst>
              <a:gd name="adj" fmla="val 48000"/>
            </a:avLst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3" name="Text 68"/>
          <p:cNvSpPr/>
          <p:nvPr/>
        </p:nvSpPr>
        <p:spPr>
          <a:xfrm>
            <a:off x="13177093" y="3333750"/>
            <a:ext cx="61049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Incidente ✓</a:t>
            </a:r>
            <a:endParaRPr lang="en-US" sz="825" dirty="0"/>
          </a:p>
        </p:txBody>
      </p:sp>
      <p:sp>
        <p:nvSpPr>
          <p:cNvPr id="74" name="Shape 69"/>
          <p:cNvSpPr/>
          <p:nvPr/>
        </p:nvSpPr>
        <p:spPr>
          <a:xfrm>
            <a:off x="13863786" y="3295650"/>
            <a:ext cx="579090" cy="238125"/>
          </a:xfrm>
          <a:prstGeom prst="roundRect">
            <a:avLst>
              <a:gd name="adj" fmla="val 48000"/>
            </a:avLst>
          </a:prstGeom>
          <a:ln w="9525">
            <a:solidFill>
              <a:srgbClr val="3A2D6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5" name="Text 70"/>
          <p:cNvSpPr/>
          <p:nvPr/>
        </p:nvSpPr>
        <p:spPr>
          <a:xfrm>
            <a:off x="13968561" y="3343275"/>
            <a:ext cx="4457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Accesos</a:t>
            </a:r>
            <a:endParaRPr lang="en-US" sz="825" dirty="0"/>
          </a:p>
        </p:txBody>
      </p:sp>
      <p:sp>
        <p:nvSpPr>
          <p:cNvPr id="76" name="Shape 71"/>
          <p:cNvSpPr/>
          <p:nvPr/>
        </p:nvSpPr>
        <p:spPr>
          <a:xfrm>
            <a:off x="14500027" y="3295650"/>
            <a:ext cx="1004739" cy="238125"/>
          </a:xfrm>
          <a:prstGeom prst="roundRect">
            <a:avLst>
              <a:gd name="adj" fmla="val 48000"/>
            </a:avLst>
          </a:prstGeom>
          <a:ln w="9525">
            <a:solidFill>
              <a:srgbClr val="3A2D66">
                <a:alpha val="25000"/>
              </a:srgbClr>
            </a:solidFill>
            <a:prstDash val="dash"/>
          </a:ln>
        </p:spPr>
        <p:txBody>
          <a:bodyPr/>
          <a:lstStyle/>
          <a:p>
            <a:endParaRPr lang="es-PE"/>
          </a:p>
        </p:txBody>
      </p:sp>
      <p:sp>
        <p:nvSpPr>
          <p:cNvPr id="77" name="Text 72"/>
          <p:cNvSpPr/>
          <p:nvPr/>
        </p:nvSpPr>
        <p:spPr>
          <a:xfrm>
            <a:off x="14604802" y="3343275"/>
            <a:ext cx="8713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A2D66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 (fase 2)</a:t>
            </a:r>
            <a:endParaRPr lang="en-US" sz="825" dirty="0"/>
          </a:p>
        </p:txBody>
      </p:sp>
      <p:pic>
        <p:nvPicPr>
          <p:cNvPr id="78" name="Image 3" descr="preencoded.png"/>
          <p:cNvPicPr>
            <a:picLocks noChangeAspect="1"/>
          </p:cNvPicPr>
          <p:nvPr/>
        </p:nvPicPr>
        <p:blipFill>
          <a:blip r:embed="rId4"/>
          <a:srcRect t="4370" b="4370"/>
          <a:stretch/>
        </p:blipFill>
        <p:spPr>
          <a:xfrm>
            <a:off x="12087225" y="3638550"/>
            <a:ext cx="3571875" cy="1905000"/>
          </a:xfrm>
          <a:prstGeom prst="rect">
            <a:avLst/>
          </a:prstGeom>
        </p:spPr>
      </p:pic>
      <p:sp>
        <p:nvSpPr>
          <p:cNvPr id="79" name="Shape 73"/>
          <p:cNvSpPr/>
          <p:nvPr/>
        </p:nvSpPr>
        <p:spPr>
          <a:xfrm>
            <a:off x="14918829" y="3714750"/>
            <a:ext cx="664071" cy="200025"/>
          </a:xfrm>
          <a:prstGeom prst="roundRect">
            <a:avLst>
              <a:gd name="adj" fmla="val 50000"/>
            </a:avLst>
          </a:prstGeom>
          <a:solidFill>
            <a:srgbClr val="FBFAF7">
              <a:alpha val="95000"/>
            </a:srgbClr>
          </a:solidFill>
          <a:ln/>
          <a:effectLst>
            <a:outerShdw blurRad="28575" dist="9525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80" name="Text 74"/>
          <p:cNvSpPr/>
          <p:nvPr/>
        </p:nvSpPr>
        <p:spPr>
          <a:xfrm>
            <a:off x="15014079" y="3743325"/>
            <a:ext cx="5497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Zoom +</a:t>
            </a:r>
            <a:endParaRPr lang="en-US" sz="825" dirty="0"/>
          </a:p>
        </p:txBody>
      </p:sp>
      <p:sp>
        <p:nvSpPr>
          <p:cNvPr id="81" name="Shape 75"/>
          <p:cNvSpPr/>
          <p:nvPr/>
        </p:nvSpPr>
        <p:spPr>
          <a:xfrm>
            <a:off x="14051756" y="4305300"/>
            <a:ext cx="171450" cy="171450"/>
          </a:xfrm>
          <a:prstGeom prst="ellipse">
            <a:avLst/>
          </a:prstGeom>
          <a:solidFill>
            <a:srgbClr val="C0503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2" name="Shape 76"/>
          <p:cNvSpPr/>
          <p:nvPr/>
        </p:nvSpPr>
        <p:spPr>
          <a:xfrm rot="-1080000">
            <a:off x="12801600" y="4781550"/>
            <a:ext cx="1143001" cy="19050"/>
          </a:xfrm>
          <a:prstGeom prst="rect">
            <a:avLst/>
          </a:prstGeom>
          <a:solidFill>
            <a:srgbClr val="3A2D66">
              <a:alpha val="4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3" name="Shape 77"/>
          <p:cNvSpPr/>
          <p:nvPr/>
        </p:nvSpPr>
        <p:spPr>
          <a:xfrm>
            <a:off x="12730163" y="4838700"/>
            <a:ext cx="838051" cy="1524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4" name="Text 78"/>
          <p:cNvSpPr/>
          <p:nvPr/>
        </p:nvSpPr>
        <p:spPr>
          <a:xfrm>
            <a:off x="12777788" y="4857750"/>
            <a:ext cx="81900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de acceso (ref.)</a:t>
            </a:r>
            <a:endParaRPr lang="en-US" sz="675" dirty="0"/>
          </a:p>
        </p:txBody>
      </p:sp>
      <p:sp>
        <p:nvSpPr>
          <p:cNvPr id="85" name="Text 79"/>
          <p:cNvSpPr/>
          <p:nvPr/>
        </p:nvSpPr>
        <p:spPr>
          <a:xfrm>
            <a:off x="12125325" y="5400675"/>
            <a:ext cx="698004" cy="142875"/>
          </a:xfrm>
          <a:prstGeom prst="rect">
            <a:avLst/>
          </a:prstGeom>
          <a:noFill/>
          <a:ln/>
          <a:effectLst>
            <a:outerShdw blurRad="19050" dist="9525" dir="5400000" algn="bl" rotWithShape="0">
              <a:srgbClr val="000000">
                <a:alpha val="6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OpenStreetMap</a:t>
            </a:r>
            <a:endParaRPr lang="en-US" sz="600" dirty="0"/>
          </a:p>
        </p:txBody>
      </p:sp>
      <p:sp>
        <p:nvSpPr>
          <p:cNvPr id="86" name="Shape 80"/>
          <p:cNvSpPr/>
          <p:nvPr/>
        </p:nvSpPr>
        <p:spPr>
          <a:xfrm>
            <a:off x="15659100" y="3638550"/>
            <a:ext cx="9525" cy="1905000"/>
          </a:xfrm>
          <a:prstGeom prst="rect">
            <a:avLst/>
          </a:prstGeom>
          <a:solidFill>
            <a:srgbClr val="3A2D66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7" name="Text 81"/>
          <p:cNvSpPr/>
          <p:nvPr/>
        </p:nvSpPr>
        <p:spPr>
          <a:xfrm>
            <a:off x="15782925" y="3752850"/>
            <a:ext cx="16764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3A2D66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INCIDENTE</a:t>
            </a:r>
            <a:endParaRPr lang="en-US" sz="750" dirty="0"/>
          </a:p>
        </p:txBody>
      </p:sp>
      <p:sp>
        <p:nvSpPr>
          <p:cNvPr id="88" name="Text 82"/>
          <p:cNvSpPr/>
          <p:nvPr/>
        </p:nvSpPr>
        <p:spPr>
          <a:xfrm>
            <a:off x="15782925" y="3943350"/>
            <a:ext cx="6168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Tipo: Fuga GLP</a:t>
            </a:r>
            <a:endParaRPr lang="en-US" sz="825" dirty="0"/>
          </a:p>
        </p:txBody>
      </p:sp>
      <p:sp>
        <p:nvSpPr>
          <p:cNvPr id="89" name="Text 83"/>
          <p:cNvSpPr/>
          <p:nvPr/>
        </p:nvSpPr>
        <p:spPr>
          <a:xfrm>
            <a:off x="15782925" y="4076700"/>
            <a:ext cx="4912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Hora: 08:41</a:t>
            </a:r>
            <a:endParaRPr lang="en-US" sz="825" dirty="0"/>
          </a:p>
        </p:txBody>
      </p:sp>
      <p:sp>
        <p:nvSpPr>
          <p:cNvPr id="90" name="Text 84"/>
          <p:cNvSpPr/>
          <p:nvPr/>
        </p:nvSpPr>
        <p:spPr>
          <a:xfrm>
            <a:off x="15782925" y="4210050"/>
            <a:ext cx="5137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Riesgo: alto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840200" y="381000"/>
            <a:ext cx="533400" cy="533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85725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6D2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1295400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652"/>
              </a:lnSpc>
              <a:buNone/>
            </a:pPr>
            <a:r>
              <a:rPr lang="en-US" sz="4500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Relevo de mando — COE y PMM/CI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914400" y="2390775"/>
            <a:ext cx="400050" cy="295275"/>
          </a:xfrm>
          <a:prstGeom prst="roundRect">
            <a:avLst>
              <a:gd name="adj" fmla="val 16129"/>
            </a:avLst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1009650" y="2428875"/>
            <a:ext cx="24955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1j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09700" y="2343150"/>
            <a:ext cx="310641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2D66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sobre el dashboard</a:t>
            </a:r>
            <a:endParaRPr lang="en-US" sz="1875" dirty="0"/>
          </a:p>
        </p:txBody>
      </p:sp>
      <p:sp>
        <p:nvSpPr>
          <p:cNvPr id="8" name="Shape 5"/>
          <p:cNvSpPr/>
          <p:nvPr/>
        </p:nvSpPr>
        <p:spPr>
          <a:xfrm>
            <a:off x="914400" y="2819400"/>
            <a:ext cx="5353050" cy="2876550"/>
          </a:xfrm>
          <a:prstGeom prst="roundRect">
            <a:avLst>
              <a:gd name="adj" fmla="val 2649"/>
            </a:avLst>
          </a:prstGeom>
          <a:solidFill>
            <a:srgbClr val="DCD9D2"/>
          </a:solidFill>
          <a:ln w="9525">
            <a:solidFill>
              <a:srgbClr val="3A2D66">
                <a:alpha val="15000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6"/>
          <p:cNvSpPr/>
          <p:nvPr/>
        </p:nvSpPr>
        <p:spPr>
          <a:xfrm>
            <a:off x="1114425" y="3057525"/>
            <a:ext cx="2428875" cy="476250"/>
          </a:xfrm>
          <a:prstGeom prst="roundRect">
            <a:avLst>
              <a:gd name="adj" fmla="val 8000"/>
            </a:avLst>
          </a:prstGeom>
          <a:solidFill>
            <a:srgbClr val="FBFAF7">
              <a:alpha val="3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Shape 7"/>
          <p:cNvSpPr/>
          <p:nvPr/>
        </p:nvSpPr>
        <p:spPr>
          <a:xfrm>
            <a:off x="3638550" y="3057525"/>
            <a:ext cx="2428875" cy="476250"/>
          </a:xfrm>
          <a:prstGeom prst="roundRect">
            <a:avLst>
              <a:gd name="adj" fmla="val 8000"/>
            </a:avLst>
          </a:prstGeom>
          <a:solidFill>
            <a:srgbClr val="FBFAF7">
              <a:alpha val="3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Shape 8"/>
          <p:cNvSpPr/>
          <p:nvPr/>
        </p:nvSpPr>
        <p:spPr>
          <a:xfrm>
            <a:off x="1114425" y="3609975"/>
            <a:ext cx="4953000" cy="571500"/>
          </a:xfrm>
          <a:prstGeom prst="roundRect">
            <a:avLst>
              <a:gd name="adj" fmla="val 6667"/>
            </a:avLst>
          </a:prstGeom>
          <a:solidFill>
            <a:srgbClr val="FBFAF7">
              <a:alpha val="3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Shape 9"/>
          <p:cNvSpPr/>
          <p:nvPr/>
        </p:nvSpPr>
        <p:spPr>
          <a:xfrm>
            <a:off x="1885950" y="2890838"/>
            <a:ext cx="3409950" cy="2733675"/>
          </a:xfrm>
          <a:prstGeom prst="roundRect">
            <a:avLst>
              <a:gd name="adj" fmla="val 2787"/>
            </a:avLst>
          </a:prstGeom>
          <a:solidFill>
            <a:srgbClr val="FBFAF7"/>
          </a:solidFill>
          <a:ln w="9525">
            <a:solidFill>
              <a:srgbClr val="3A2D66">
                <a:alpha val="20000"/>
              </a:srgbClr>
            </a:solidFill>
            <a:prstDash val="solid"/>
          </a:ln>
          <a:effectLst>
            <a:outerShdw blurRad="190500" dist="5715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Text 10"/>
          <p:cNvSpPr/>
          <p:nvPr/>
        </p:nvSpPr>
        <p:spPr>
          <a:xfrm>
            <a:off x="2066925" y="3071813"/>
            <a:ext cx="33528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relevo de mando</a:t>
            </a:r>
            <a:endParaRPr lang="en-US" sz="1125" dirty="0"/>
          </a:p>
        </p:txBody>
      </p:sp>
      <p:sp>
        <p:nvSpPr>
          <p:cNvPr id="14" name="Shape 11"/>
          <p:cNvSpPr/>
          <p:nvPr/>
        </p:nvSpPr>
        <p:spPr>
          <a:xfrm>
            <a:off x="2066925" y="3328988"/>
            <a:ext cx="643682" cy="247650"/>
          </a:xfrm>
          <a:prstGeom prst="roundRect">
            <a:avLst>
              <a:gd name="adj" fmla="val 46154"/>
            </a:avLst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2"/>
          <p:cNvSpPr/>
          <p:nvPr/>
        </p:nvSpPr>
        <p:spPr>
          <a:xfrm>
            <a:off x="2181225" y="3367088"/>
            <a:ext cx="49128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PMM/CI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67757" y="3328988"/>
            <a:ext cx="459432" cy="247650"/>
          </a:xfrm>
          <a:prstGeom prst="roundRect">
            <a:avLst>
              <a:gd name="adj" fmla="val 46154"/>
            </a:avLst>
          </a:prstGeom>
          <a:ln w="9525">
            <a:solidFill>
              <a:srgbClr val="3A2D6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/>
          <p:nvPr/>
        </p:nvSpPr>
        <p:spPr>
          <a:xfrm>
            <a:off x="2891582" y="3376613"/>
            <a:ext cx="28798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66925" y="3671888"/>
            <a:ext cx="33528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A2D66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066925" y="3852863"/>
            <a:ext cx="3048000" cy="342900"/>
          </a:xfrm>
          <a:prstGeom prst="roundRect">
            <a:avLst>
              <a:gd name="adj" fmla="val 13889"/>
            </a:avLst>
          </a:prstGeom>
          <a:ln w="9525">
            <a:solidFill>
              <a:srgbClr val="3A2D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7"/>
          <p:cNvSpPr/>
          <p:nvPr/>
        </p:nvSpPr>
        <p:spPr>
          <a:xfrm>
            <a:off x="2152650" y="3938588"/>
            <a:ext cx="296799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Sup. Gral. Rescate ▾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2066925" y="4271963"/>
            <a:ext cx="33528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A2D66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066925" y="4452938"/>
            <a:ext cx="3048000" cy="342900"/>
          </a:xfrm>
          <a:prstGeom prst="roundRect">
            <a:avLst>
              <a:gd name="adj" fmla="val 13889"/>
            </a:avLst>
          </a:prstGeom>
          <a:ln w="9525">
            <a:solidFill>
              <a:srgbClr val="3A2D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0"/>
          <p:cNvSpPr/>
          <p:nvPr/>
        </p:nvSpPr>
        <p:spPr>
          <a:xfrm>
            <a:off x="2152650" y="4538663"/>
            <a:ext cx="296799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Jefe de Rescate ▾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2066925" y="4872038"/>
            <a:ext cx="33528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A2D66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Hora: 08:52 (auto)</a:t>
            </a:r>
            <a:endParaRPr lang="en-US" sz="825" dirty="0"/>
          </a:p>
        </p:txBody>
      </p:sp>
      <p:sp>
        <p:nvSpPr>
          <p:cNvPr id="25" name="Shape 22"/>
          <p:cNvSpPr/>
          <p:nvPr/>
        </p:nvSpPr>
        <p:spPr>
          <a:xfrm>
            <a:off x="2066925" y="5100638"/>
            <a:ext cx="3048000" cy="342900"/>
          </a:xfrm>
          <a:prstGeom prst="roundRect">
            <a:avLst>
              <a:gd name="adj" fmla="val 16667"/>
            </a:avLst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Text 23"/>
          <p:cNvSpPr/>
          <p:nvPr/>
        </p:nvSpPr>
        <p:spPr>
          <a:xfrm>
            <a:off x="2106930" y="5186363"/>
            <a:ext cx="296799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relevo</a:t>
            </a:r>
            <a:endParaRPr lang="en-US" sz="975" dirty="0"/>
          </a:p>
        </p:txBody>
      </p:sp>
      <p:sp>
        <p:nvSpPr>
          <p:cNvPr id="27" name="Shape 24"/>
          <p:cNvSpPr/>
          <p:nvPr/>
        </p:nvSpPr>
        <p:spPr>
          <a:xfrm>
            <a:off x="6496050" y="2390775"/>
            <a:ext cx="400050" cy="295275"/>
          </a:xfrm>
          <a:prstGeom prst="roundRect">
            <a:avLst>
              <a:gd name="adj" fmla="val 16129"/>
            </a:avLst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8" name="Text 25"/>
          <p:cNvSpPr/>
          <p:nvPr/>
        </p:nvSpPr>
        <p:spPr>
          <a:xfrm>
            <a:off x="6591300" y="2428875"/>
            <a:ext cx="24955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1k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991350" y="2343150"/>
            <a:ext cx="279634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2D66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de doble carril</a:t>
            </a:r>
            <a:endParaRPr lang="en-US" sz="1875" dirty="0"/>
          </a:p>
        </p:txBody>
      </p:sp>
      <p:sp>
        <p:nvSpPr>
          <p:cNvPr id="30" name="Shape 27"/>
          <p:cNvSpPr/>
          <p:nvPr/>
        </p:nvSpPr>
        <p:spPr>
          <a:xfrm>
            <a:off x="6496050" y="2819400"/>
            <a:ext cx="5353050" cy="1676400"/>
          </a:xfrm>
          <a:prstGeom prst="roundRect">
            <a:avLst>
              <a:gd name="adj" fmla="val 4545"/>
            </a:avLst>
          </a:prstGeom>
          <a:solidFill>
            <a:srgbClr val="FBFAF7"/>
          </a:solidFill>
          <a:ln w="9525">
            <a:solidFill>
              <a:srgbClr val="3A2D66">
                <a:alpha val="15000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1" name="Shape 28"/>
          <p:cNvSpPr/>
          <p:nvPr/>
        </p:nvSpPr>
        <p:spPr>
          <a:xfrm>
            <a:off x="6505575" y="2828925"/>
            <a:ext cx="5334000" cy="371475"/>
          </a:xfrm>
          <a:prstGeom prst="rect">
            <a:avLst/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2" name="Text 29"/>
          <p:cNvSpPr/>
          <p:nvPr/>
        </p:nvSpPr>
        <p:spPr>
          <a:xfrm>
            <a:off x="6657975" y="2924175"/>
            <a:ext cx="518922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de mando — Alerta III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9167813" y="3200400"/>
            <a:ext cx="9525" cy="990600"/>
          </a:xfrm>
          <a:prstGeom prst="rect">
            <a:avLst/>
          </a:prstGeom>
          <a:solidFill>
            <a:srgbClr val="3A2D66">
              <a:alpha val="2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4" name="Text 31"/>
          <p:cNvSpPr/>
          <p:nvPr/>
        </p:nvSpPr>
        <p:spPr>
          <a:xfrm>
            <a:off x="6657975" y="3357563"/>
            <a:ext cx="27339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A2D66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</a:t>
            </a:r>
            <a:endParaRPr lang="en-US" sz="825" dirty="0"/>
          </a:p>
        </p:txBody>
      </p:sp>
      <p:sp>
        <p:nvSpPr>
          <p:cNvPr id="35" name="Shape 32"/>
          <p:cNvSpPr/>
          <p:nvPr/>
        </p:nvSpPr>
        <p:spPr>
          <a:xfrm>
            <a:off x="8495407" y="3333750"/>
            <a:ext cx="520005" cy="190500"/>
          </a:xfrm>
          <a:prstGeom prst="roundRect">
            <a:avLst>
              <a:gd name="adj" fmla="val 50000"/>
            </a:avLst>
          </a:prstGeom>
          <a:ln w="9525">
            <a:solidFill>
              <a:srgbClr val="3A2D6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6" name="Text 33"/>
          <p:cNvSpPr/>
          <p:nvPr/>
        </p:nvSpPr>
        <p:spPr>
          <a:xfrm>
            <a:off x="8581132" y="3362325"/>
            <a:ext cx="42475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relevo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6657975" y="3600450"/>
            <a:ext cx="243363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1429"/>
              </a:lnSpc>
              <a:buNone/>
            </a:pPr>
            <a:r>
              <a:rPr lang="en-US" sz="900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08:02 Duty Manager </a:t>
            </a:r>
            <a:r>
              <a:rPr lang="en-US" sz="900" dirty="0">
                <a:solidFill>
                  <a:srgbClr val="3A2D66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(inicio)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657975" y="3829050"/>
            <a:ext cx="243363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1429"/>
              </a:lnSpc>
              <a:buNone/>
            </a:pPr>
            <a:r>
              <a:rPr lang="en-US" sz="900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08:41 Gerente Seguridad </a:t>
            </a:r>
            <a:r>
              <a:rPr lang="en-US" sz="900" dirty="0">
                <a:solidFill>
                  <a:srgbClr val="A57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(relevo)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9329738" y="3357563"/>
            <a:ext cx="5277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A2D66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PMM / CI</a:t>
            </a:r>
            <a:endParaRPr lang="en-US" sz="825" dirty="0"/>
          </a:p>
        </p:txBody>
      </p:sp>
      <p:sp>
        <p:nvSpPr>
          <p:cNvPr id="40" name="Shape 37"/>
          <p:cNvSpPr/>
          <p:nvPr/>
        </p:nvSpPr>
        <p:spPr>
          <a:xfrm>
            <a:off x="11167170" y="3333750"/>
            <a:ext cx="520005" cy="190500"/>
          </a:xfrm>
          <a:prstGeom prst="roundRect">
            <a:avLst>
              <a:gd name="adj" fmla="val 50000"/>
            </a:avLst>
          </a:prstGeom>
          <a:ln w="9525">
            <a:solidFill>
              <a:srgbClr val="3A2D6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1" name="Text 38"/>
          <p:cNvSpPr/>
          <p:nvPr/>
        </p:nvSpPr>
        <p:spPr>
          <a:xfrm>
            <a:off x="11252895" y="3362325"/>
            <a:ext cx="42475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relevo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9329738" y="3600450"/>
            <a:ext cx="243363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1429"/>
              </a:lnSpc>
              <a:buNone/>
            </a:pPr>
            <a:r>
              <a:rPr lang="en-US" sz="900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08:05 Sup. Gral. Rescate </a:t>
            </a:r>
            <a:r>
              <a:rPr lang="en-US" sz="900" dirty="0">
                <a:solidFill>
                  <a:srgbClr val="3A2D66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(inicio)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9329738" y="3829050"/>
            <a:ext cx="243363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1429"/>
              </a:lnSpc>
              <a:buNone/>
            </a:pPr>
            <a:r>
              <a:rPr lang="en-US" sz="900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08:52 Jefe de Rescate </a:t>
            </a:r>
            <a:r>
              <a:rPr lang="en-US" sz="900" dirty="0">
                <a:solidFill>
                  <a:srgbClr val="A57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(relevo)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505575" y="4191000"/>
            <a:ext cx="5334000" cy="9525"/>
          </a:xfrm>
          <a:prstGeom prst="rect">
            <a:avLst/>
          </a:prstGeom>
          <a:solidFill>
            <a:srgbClr val="3A2D66">
              <a:alpha val="1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5" name="Text 42"/>
          <p:cNvSpPr/>
          <p:nvPr/>
        </p:nvSpPr>
        <p:spPr>
          <a:xfrm>
            <a:off x="6657975" y="4276725"/>
            <a:ext cx="51892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A2D66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sólido = relevo registrado con hora, saliente y entrante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12077700" y="2390775"/>
            <a:ext cx="400050" cy="295275"/>
          </a:xfrm>
          <a:prstGeom prst="roundRect">
            <a:avLst>
              <a:gd name="adj" fmla="val 16129"/>
            </a:avLst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7" name="Text 44"/>
          <p:cNvSpPr/>
          <p:nvPr/>
        </p:nvSpPr>
        <p:spPr>
          <a:xfrm>
            <a:off x="12172950" y="2428875"/>
            <a:ext cx="24955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1l</a:t>
            </a:r>
            <a:endParaRPr lang="en-US" sz="1500" dirty="0"/>
          </a:p>
        </p:txBody>
      </p:sp>
      <p:sp>
        <p:nvSpPr>
          <p:cNvPr id="48" name="Text 45"/>
          <p:cNvSpPr/>
          <p:nvPr/>
        </p:nvSpPr>
        <p:spPr>
          <a:xfrm>
            <a:off x="12573000" y="2343150"/>
            <a:ext cx="299754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2D66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Tarjeta rápida de 1 acción</a:t>
            </a:r>
            <a:endParaRPr lang="en-US" sz="1875" dirty="0"/>
          </a:p>
        </p:txBody>
      </p:sp>
      <p:sp>
        <p:nvSpPr>
          <p:cNvPr id="49" name="Shape 46"/>
          <p:cNvSpPr/>
          <p:nvPr/>
        </p:nvSpPr>
        <p:spPr>
          <a:xfrm>
            <a:off x="12077700" y="2819400"/>
            <a:ext cx="5353050" cy="3552825"/>
          </a:xfrm>
          <a:prstGeom prst="roundRect">
            <a:avLst>
              <a:gd name="adj" fmla="val 2145"/>
            </a:avLst>
          </a:prstGeom>
          <a:solidFill>
            <a:srgbClr val="FBFAF7"/>
          </a:solidFill>
          <a:ln w="9525">
            <a:solidFill>
              <a:srgbClr val="3A2D66">
                <a:alpha val="15000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0" name="Shape 47"/>
          <p:cNvSpPr/>
          <p:nvPr/>
        </p:nvSpPr>
        <p:spPr>
          <a:xfrm>
            <a:off x="12087225" y="2828925"/>
            <a:ext cx="5334000" cy="428625"/>
          </a:xfrm>
          <a:prstGeom prst="rect">
            <a:avLst/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1" name="Text 48"/>
          <p:cNvSpPr/>
          <p:nvPr/>
        </p:nvSpPr>
        <p:spPr>
          <a:xfrm>
            <a:off x="12239625" y="2957513"/>
            <a:ext cx="101262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 — Sala de Crisis</a:t>
            </a:r>
            <a:endParaRPr lang="en-US" sz="975" dirty="0"/>
          </a:p>
        </p:txBody>
      </p:sp>
      <p:sp>
        <p:nvSpPr>
          <p:cNvPr id="52" name="Shape 49"/>
          <p:cNvSpPr/>
          <p:nvPr/>
        </p:nvSpPr>
        <p:spPr>
          <a:xfrm>
            <a:off x="16522154" y="2924175"/>
            <a:ext cx="746671" cy="238125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3" name="Text 50"/>
          <p:cNvSpPr/>
          <p:nvPr/>
        </p:nvSpPr>
        <p:spPr>
          <a:xfrm>
            <a:off x="16617404" y="2962275"/>
            <a:ext cx="6323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Relevo</a:t>
            </a:r>
            <a:endParaRPr lang="en-US" sz="975" dirty="0"/>
          </a:p>
        </p:txBody>
      </p:sp>
      <p:sp>
        <p:nvSpPr>
          <p:cNvPr id="54" name="Shape 51"/>
          <p:cNvSpPr/>
          <p:nvPr/>
        </p:nvSpPr>
        <p:spPr>
          <a:xfrm>
            <a:off x="12087225" y="4067175"/>
            <a:ext cx="5334000" cy="9525"/>
          </a:xfrm>
          <a:prstGeom prst="rect">
            <a:avLst/>
          </a:prstGeom>
          <a:solidFill>
            <a:srgbClr val="3A2D66">
              <a:alpha val="1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5" name="Text 52"/>
          <p:cNvSpPr/>
          <p:nvPr/>
        </p:nvSpPr>
        <p:spPr>
          <a:xfrm>
            <a:off x="12159615" y="3581400"/>
            <a:ext cx="51892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A2D66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normal del dashboard…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13373100" y="4229100"/>
            <a:ext cx="2762250" cy="1762125"/>
          </a:xfrm>
          <a:prstGeom prst="roundRect">
            <a:avLst>
              <a:gd name="adj" fmla="val 4324"/>
            </a:avLst>
          </a:prstGeom>
          <a:ln w="9525">
            <a:solidFill>
              <a:srgbClr val="3A2D66">
                <a:alpha val="20000"/>
              </a:srgbClr>
            </a:solidFill>
            <a:prstDash val="solid"/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7" name="Text 54"/>
          <p:cNvSpPr/>
          <p:nvPr/>
        </p:nvSpPr>
        <p:spPr>
          <a:xfrm>
            <a:off x="13515975" y="4371975"/>
            <a:ext cx="27241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Relevo rápido</a:t>
            </a:r>
            <a:endParaRPr lang="en-US" sz="975" dirty="0"/>
          </a:p>
        </p:txBody>
      </p:sp>
      <p:sp>
        <p:nvSpPr>
          <p:cNvPr id="58" name="Shape 55"/>
          <p:cNvSpPr/>
          <p:nvPr/>
        </p:nvSpPr>
        <p:spPr>
          <a:xfrm>
            <a:off x="13515975" y="4591050"/>
            <a:ext cx="384572" cy="219075"/>
          </a:xfrm>
          <a:prstGeom prst="roundRect">
            <a:avLst>
              <a:gd name="adj" fmla="val 43478"/>
            </a:avLst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9" name="Text 56"/>
          <p:cNvSpPr/>
          <p:nvPr/>
        </p:nvSpPr>
        <p:spPr>
          <a:xfrm>
            <a:off x="13611225" y="4619625"/>
            <a:ext cx="2702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</a:t>
            </a:r>
            <a:endParaRPr lang="en-US" sz="825" dirty="0"/>
          </a:p>
        </p:txBody>
      </p:sp>
      <p:sp>
        <p:nvSpPr>
          <p:cNvPr id="60" name="Shape 57"/>
          <p:cNvSpPr/>
          <p:nvPr/>
        </p:nvSpPr>
        <p:spPr>
          <a:xfrm>
            <a:off x="13957697" y="4591050"/>
            <a:ext cx="456456" cy="219075"/>
          </a:xfrm>
          <a:prstGeom prst="roundRect">
            <a:avLst>
              <a:gd name="adj" fmla="val 43478"/>
            </a:avLst>
          </a:prstGeom>
          <a:ln w="9525">
            <a:solidFill>
              <a:srgbClr val="3A2D6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1" name="Text 58"/>
          <p:cNvSpPr/>
          <p:nvPr/>
        </p:nvSpPr>
        <p:spPr>
          <a:xfrm>
            <a:off x="14062472" y="4629150"/>
            <a:ext cx="32310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PMM</a:t>
            </a:r>
            <a:endParaRPr lang="en-US" sz="825" dirty="0"/>
          </a:p>
        </p:txBody>
      </p:sp>
      <p:sp>
        <p:nvSpPr>
          <p:cNvPr id="62" name="Shape 59"/>
          <p:cNvSpPr/>
          <p:nvPr/>
        </p:nvSpPr>
        <p:spPr>
          <a:xfrm>
            <a:off x="13515975" y="4886325"/>
            <a:ext cx="2476500" cy="266700"/>
          </a:xfrm>
          <a:prstGeom prst="roundRect">
            <a:avLst>
              <a:gd name="adj" fmla="val 14286"/>
            </a:avLst>
          </a:prstGeom>
          <a:ln w="9525">
            <a:solidFill>
              <a:srgbClr val="3A2D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3" name="Text 60"/>
          <p:cNvSpPr/>
          <p:nvPr/>
        </p:nvSpPr>
        <p:spPr>
          <a:xfrm>
            <a:off x="13582650" y="4953000"/>
            <a:ext cx="24193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Sale: Duty Manager</a:t>
            </a:r>
            <a:endParaRPr lang="en-US" sz="825" dirty="0"/>
          </a:p>
        </p:txBody>
      </p:sp>
      <p:sp>
        <p:nvSpPr>
          <p:cNvPr id="64" name="Shape 61"/>
          <p:cNvSpPr/>
          <p:nvPr/>
        </p:nvSpPr>
        <p:spPr>
          <a:xfrm>
            <a:off x="13515975" y="5210175"/>
            <a:ext cx="2476500" cy="266700"/>
          </a:xfrm>
          <a:prstGeom prst="roundRect">
            <a:avLst>
              <a:gd name="adj" fmla="val 14286"/>
            </a:avLst>
          </a:prstGeom>
          <a:ln w="9525">
            <a:solidFill>
              <a:srgbClr val="3A2D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5" name="Text 62"/>
          <p:cNvSpPr/>
          <p:nvPr/>
        </p:nvSpPr>
        <p:spPr>
          <a:xfrm>
            <a:off x="13582650" y="5276850"/>
            <a:ext cx="24193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A2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Entra: Gerente Seguridad</a:t>
            </a:r>
            <a:endParaRPr lang="en-US" sz="825" dirty="0"/>
          </a:p>
        </p:txBody>
      </p:sp>
      <p:sp>
        <p:nvSpPr>
          <p:cNvPr id="66" name="Shape 63"/>
          <p:cNvSpPr/>
          <p:nvPr/>
        </p:nvSpPr>
        <p:spPr>
          <a:xfrm>
            <a:off x="13515975" y="5553075"/>
            <a:ext cx="2476500" cy="295275"/>
          </a:xfrm>
          <a:prstGeom prst="roundRect">
            <a:avLst>
              <a:gd name="adj" fmla="val 16129"/>
            </a:avLst>
          </a:prstGeom>
          <a:solidFill>
            <a:srgbClr val="3A2D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7" name="Text 64"/>
          <p:cNvSpPr/>
          <p:nvPr/>
        </p:nvSpPr>
        <p:spPr>
          <a:xfrm>
            <a:off x="13544550" y="5619750"/>
            <a:ext cx="24193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12007215" y="6143625"/>
            <a:ext cx="549402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3A2D66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clic desde cualquier pantalla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898</Words>
  <Application>Microsoft Office PowerPoint</Application>
  <PresentationFormat>Personalizado</PresentationFormat>
  <Paragraphs>207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Renzo Rodrigo Vigo Rojas</cp:lastModifiedBy>
  <cp:revision>2</cp:revision>
  <dcterms:created xsi:type="dcterms:W3CDTF">2026-07-17T16:59:47Z</dcterms:created>
  <dcterms:modified xsi:type="dcterms:W3CDTF">2026-07-17T17:00:48Z</dcterms:modified>
</cp:coreProperties>
</file>